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0" r:id="rId6"/>
    <p:sldId id="266" r:id="rId7"/>
    <p:sldId id="267" r:id="rId8"/>
    <p:sldId id="268" r:id="rId9"/>
    <p:sldId id="262"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7C6018-61D1-4980-917F-790B12FD415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0E4254F-B38D-43FA-98AA-1916FD472D37}">
      <dgm:prSet/>
      <dgm:spPr/>
      <dgm:t>
        <a:bodyPr/>
        <a:lstStyle/>
        <a:p>
          <a:pPr>
            <a:defRPr cap="all"/>
          </a:pPr>
          <a:r>
            <a:rPr lang="en-US" dirty="0"/>
            <a:t>Introduction</a:t>
          </a:r>
        </a:p>
      </dgm:t>
    </dgm:pt>
    <dgm:pt modelId="{174093A6-F27E-4350-9607-3AFE6B185847}" type="parTrans" cxnId="{9EB3310E-BFFD-4591-8C0C-01E5A52B150E}">
      <dgm:prSet/>
      <dgm:spPr/>
      <dgm:t>
        <a:bodyPr/>
        <a:lstStyle/>
        <a:p>
          <a:endParaRPr lang="en-US"/>
        </a:p>
      </dgm:t>
    </dgm:pt>
    <dgm:pt modelId="{CF705805-CBC8-451A-90D9-7FD512A9DF5A}" type="sibTrans" cxnId="{9EB3310E-BFFD-4591-8C0C-01E5A52B150E}">
      <dgm:prSet/>
      <dgm:spPr/>
      <dgm:t>
        <a:bodyPr/>
        <a:lstStyle/>
        <a:p>
          <a:endParaRPr lang="en-US"/>
        </a:p>
      </dgm:t>
    </dgm:pt>
    <dgm:pt modelId="{46B5D220-B66D-4E4E-959C-2C493525CCF4}">
      <dgm:prSet/>
      <dgm:spPr/>
      <dgm:t>
        <a:bodyPr/>
        <a:lstStyle/>
        <a:p>
          <a:pPr>
            <a:defRPr cap="all"/>
          </a:pPr>
          <a:r>
            <a:rPr lang="en-US" dirty="0"/>
            <a:t>BACKGROUND</a:t>
          </a:r>
        </a:p>
      </dgm:t>
    </dgm:pt>
    <dgm:pt modelId="{287E1617-37F5-4F61-BE54-B255241463DE}" type="parTrans" cxnId="{6218178B-D52A-4557-A4FF-8508AADBD173}">
      <dgm:prSet/>
      <dgm:spPr/>
      <dgm:t>
        <a:bodyPr/>
        <a:lstStyle/>
        <a:p>
          <a:endParaRPr lang="en-US"/>
        </a:p>
      </dgm:t>
    </dgm:pt>
    <dgm:pt modelId="{528C79A8-C00C-47F7-977F-78E48D73268A}" type="sibTrans" cxnId="{6218178B-D52A-4557-A4FF-8508AADBD173}">
      <dgm:prSet/>
      <dgm:spPr/>
      <dgm:t>
        <a:bodyPr/>
        <a:lstStyle/>
        <a:p>
          <a:endParaRPr lang="en-US"/>
        </a:p>
      </dgm:t>
    </dgm:pt>
    <dgm:pt modelId="{19B62F98-84F4-4933-BC51-6D0E688BE0F2}">
      <dgm:prSet/>
      <dgm:spPr/>
      <dgm:t>
        <a:bodyPr/>
        <a:lstStyle/>
        <a:p>
          <a:pPr>
            <a:defRPr cap="all"/>
          </a:pPr>
          <a:r>
            <a:rPr lang="en-US" dirty="0"/>
            <a:t>ANALYSIS OF THE CASE</a:t>
          </a:r>
        </a:p>
      </dgm:t>
    </dgm:pt>
    <dgm:pt modelId="{3E8EF59A-5B5D-469F-A75A-C39AB8392170}" type="parTrans" cxnId="{67D3A0B7-916C-4A00-AF12-2EA53F657837}">
      <dgm:prSet/>
      <dgm:spPr/>
      <dgm:t>
        <a:bodyPr/>
        <a:lstStyle/>
        <a:p>
          <a:endParaRPr lang="en-US"/>
        </a:p>
      </dgm:t>
    </dgm:pt>
    <dgm:pt modelId="{D7913A8E-392F-4542-8C21-2FE5107C855C}" type="sibTrans" cxnId="{67D3A0B7-916C-4A00-AF12-2EA53F657837}">
      <dgm:prSet/>
      <dgm:spPr/>
      <dgm:t>
        <a:bodyPr/>
        <a:lstStyle/>
        <a:p>
          <a:endParaRPr lang="en-US"/>
        </a:p>
      </dgm:t>
    </dgm:pt>
    <dgm:pt modelId="{CAE02651-11C4-4B9E-B0B7-63B382D923B2}">
      <dgm:prSet/>
      <dgm:spPr/>
      <dgm:t>
        <a:bodyPr/>
        <a:lstStyle/>
        <a:p>
          <a:pPr>
            <a:defRPr cap="all"/>
          </a:pPr>
          <a:r>
            <a:rPr lang="en-US" dirty="0"/>
            <a:t>DISCUSSION</a:t>
          </a:r>
        </a:p>
      </dgm:t>
    </dgm:pt>
    <dgm:pt modelId="{B3F69163-311E-45C9-8512-F27A41B39867}" type="parTrans" cxnId="{AE86C163-B8DB-477D-9779-0DEDD204827E}">
      <dgm:prSet/>
      <dgm:spPr/>
      <dgm:t>
        <a:bodyPr/>
        <a:lstStyle/>
        <a:p>
          <a:endParaRPr lang="en-US"/>
        </a:p>
      </dgm:t>
    </dgm:pt>
    <dgm:pt modelId="{D88B9268-870B-44EE-8A3C-13794E480EBC}" type="sibTrans" cxnId="{AE86C163-B8DB-477D-9779-0DEDD204827E}">
      <dgm:prSet/>
      <dgm:spPr/>
      <dgm:t>
        <a:bodyPr/>
        <a:lstStyle/>
        <a:p>
          <a:endParaRPr lang="en-US"/>
        </a:p>
      </dgm:t>
    </dgm:pt>
    <dgm:pt modelId="{77FEB56E-88FF-4EAE-8031-4A5EE204CF1F}">
      <dgm:prSet/>
      <dgm:spPr/>
      <dgm:t>
        <a:bodyPr/>
        <a:lstStyle/>
        <a:p>
          <a:pPr>
            <a:defRPr cap="all"/>
          </a:pPr>
          <a:r>
            <a:rPr lang="en-US" dirty="0"/>
            <a:t>CONCLUSION</a:t>
          </a:r>
        </a:p>
      </dgm:t>
    </dgm:pt>
    <dgm:pt modelId="{5E60CFB8-285B-49DB-8F03-0D46CDC3B6F0}" type="parTrans" cxnId="{FFB501C0-0EC7-4547-8FA3-68BB88365DA9}">
      <dgm:prSet/>
      <dgm:spPr/>
      <dgm:t>
        <a:bodyPr/>
        <a:lstStyle/>
        <a:p>
          <a:endParaRPr lang="en-US"/>
        </a:p>
      </dgm:t>
    </dgm:pt>
    <dgm:pt modelId="{65A55DEB-1D67-41B1-B20D-00AF31358993}" type="sibTrans" cxnId="{FFB501C0-0EC7-4547-8FA3-68BB88365DA9}">
      <dgm:prSet/>
      <dgm:spPr/>
      <dgm:t>
        <a:bodyPr/>
        <a:lstStyle/>
        <a:p>
          <a:endParaRPr lang="en-US"/>
        </a:p>
      </dgm:t>
    </dgm:pt>
    <dgm:pt modelId="{D0F96D2D-D099-4F1D-8697-9FD186EC4498}" type="pres">
      <dgm:prSet presAssocID="{D97C6018-61D1-4980-917F-790B12FD415A}" presName="linear" presStyleCnt="0">
        <dgm:presLayoutVars>
          <dgm:dir/>
          <dgm:animLvl val="lvl"/>
          <dgm:resizeHandles val="exact"/>
        </dgm:presLayoutVars>
      </dgm:prSet>
      <dgm:spPr/>
    </dgm:pt>
    <dgm:pt modelId="{AE1C166D-5C86-41AC-A939-C2B1982A38ED}" type="pres">
      <dgm:prSet presAssocID="{D0E4254F-B38D-43FA-98AA-1916FD472D37}" presName="parentLin" presStyleCnt="0"/>
      <dgm:spPr/>
    </dgm:pt>
    <dgm:pt modelId="{B99203E2-D147-48BC-9B3B-2D78459357A3}" type="pres">
      <dgm:prSet presAssocID="{D0E4254F-B38D-43FA-98AA-1916FD472D37}" presName="parentLeftMargin" presStyleLbl="node1" presStyleIdx="0" presStyleCnt="5"/>
      <dgm:spPr/>
    </dgm:pt>
    <dgm:pt modelId="{65A71711-73A1-446C-9950-DEC9C5AEC140}" type="pres">
      <dgm:prSet presAssocID="{D0E4254F-B38D-43FA-98AA-1916FD472D37}" presName="parentText" presStyleLbl="node1" presStyleIdx="0" presStyleCnt="5">
        <dgm:presLayoutVars>
          <dgm:chMax val="0"/>
          <dgm:bulletEnabled val="1"/>
        </dgm:presLayoutVars>
      </dgm:prSet>
      <dgm:spPr/>
    </dgm:pt>
    <dgm:pt modelId="{021DB853-6EC7-4E84-8A67-5C3EB358929C}" type="pres">
      <dgm:prSet presAssocID="{D0E4254F-B38D-43FA-98AA-1916FD472D37}" presName="negativeSpace" presStyleCnt="0"/>
      <dgm:spPr/>
    </dgm:pt>
    <dgm:pt modelId="{EA357D96-04D7-4730-BE7A-CA4C05FB39DA}" type="pres">
      <dgm:prSet presAssocID="{D0E4254F-B38D-43FA-98AA-1916FD472D37}" presName="childText" presStyleLbl="conFgAcc1" presStyleIdx="0" presStyleCnt="5">
        <dgm:presLayoutVars>
          <dgm:bulletEnabled val="1"/>
        </dgm:presLayoutVars>
      </dgm:prSet>
      <dgm:spPr/>
    </dgm:pt>
    <dgm:pt modelId="{CF904E20-852D-4C5A-BCC0-628C774DEED7}" type="pres">
      <dgm:prSet presAssocID="{CF705805-CBC8-451A-90D9-7FD512A9DF5A}" presName="spaceBetweenRectangles" presStyleCnt="0"/>
      <dgm:spPr/>
    </dgm:pt>
    <dgm:pt modelId="{B6CF4508-EAC4-4DDE-AFBD-DA8BC7177347}" type="pres">
      <dgm:prSet presAssocID="{46B5D220-B66D-4E4E-959C-2C493525CCF4}" presName="parentLin" presStyleCnt="0"/>
      <dgm:spPr/>
    </dgm:pt>
    <dgm:pt modelId="{0A54894C-3E64-48BC-BBD3-DE682DEE7DAA}" type="pres">
      <dgm:prSet presAssocID="{46B5D220-B66D-4E4E-959C-2C493525CCF4}" presName="parentLeftMargin" presStyleLbl="node1" presStyleIdx="0" presStyleCnt="5"/>
      <dgm:spPr/>
    </dgm:pt>
    <dgm:pt modelId="{DA52BF2F-9756-4136-B7E4-24588FBD82D4}" type="pres">
      <dgm:prSet presAssocID="{46B5D220-B66D-4E4E-959C-2C493525CCF4}" presName="parentText" presStyleLbl="node1" presStyleIdx="1" presStyleCnt="5">
        <dgm:presLayoutVars>
          <dgm:chMax val="0"/>
          <dgm:bulletEnabled val="1"/>
        </dgm:presLayoutVars>
      </dgm:prSet>
      <dgm:spPr/>
    </dgm:pt>
    <dgm:pt modelId="{424AFAF4-FD5A-4C03-9209-1A825BD0E6AC}" type="pres">
      <dgm:prSet presAssocID="{46B5D220-B66D-4E4E-959C-2C493525CCF4}" presName="negativeSpace" presStyleCnt="0"/>
      <dgm:spPr/>
    </dgm:pt>
    <dgm:pt modelId="{6E2708CE-BD43-4FC0-ABE9-4332FAEA7D50}" type="pres">
      <dgm:prSet presAssocID="{46B5D220-B66D-4E4E-959C-2C493525CCF4}" presName="childText" presStyleLbl="conFgAcc1" presStyleIdx="1" presStyleCnt="5">
        <dgm:presLayoutVars>
          <dgm:bulletEnabled val="1"/>
        </dgm:presLayoutVars>
      </dgm:prSet>
      <dgm:spPr/>
    </dgm:pt>
    <dgm:pt modelId="{711FD59A-5A7B-488F-9249-3E7085019431}" type="pres">
      <dgm:prSet presAssocID="{528C79A8-C00C-47F7-977F-78E48D73268A}" presName="spaceBetweenRectangles" presStyleCnt="0"/>
      <dgm:spPr/>
    </dgm:pt>
    <dgm:pt modelId="{5A25220C-6D9A-4688-9031-621F5E204A67}" type="pres">
      <dgm:prSet presAssocID="{19B62F98-84F4-4933-BC51-6D0E688BE0F2}" presName="parentLin" presStyleCnt="0"/>
      <dgm:spPr/>
    </dgm:pt>
    <dgm:pt modelId="{C7441299-FBB5-44B2-92BA-C4A7F1E46A8B}" type="pres">
      <dgm:prSet presAssocID="{19B62F98-84F4-4933-BC51-6D0E688BE0F2}" presName="parentLeftMargin" presStyleLbl="node1" presStyleIdx="1" presStyleCnt="5"/>
      <dgm:spPr/>
    </dgm:pt>
    <dgm:pt modelId="{7E031473-E68C-4991-B1D5-BA1E680240D6}" type="pres">
      <dgm:prSet presAssocID="{19B62F98-84F4-4933-BC51-6D0E688BE0F2}" presName="parentText" presStyleLbl="node1" presStyleIdx="2" presStyleCnt="5">
        <dgm:presLayoutVars>
          <dgm:chMax val="0"/>
          <dgm:bulletEnabled val="1"/>
        </dgm:presLayoutVars>
      </dgm:prSet>
      <dgm:spPr/>
    </dgm:pt>
    <dgm:pt modelId="{FF209F10-2492-46FF-8BAD-0DEF2E7938FD}" type="pres">
      <dgm:prSet presAssocID="{19B62F98-84F4-4933-BC51-6D0E688BE0F2}" presName="negativeSpace" presStyleCnt="0"/>
      <dgm:spPr/>
    </dgm:pt>
    <dgm:pt modelId="{A93491CC-810E-4998-9D58-50FD64E33FFF}" type="pres">
      <dgm:prSet presAssocID="{19B62F98-84F4-4933-BC51-6D0E688BE0F2}" presName="childText" presStyleLbl="conFgAcc1" presStyleIdx="2" presStyleCnt="5">
        <dgm:presLayoutVars>
          <dgm:bulletEnabled val="1"/>
        </dgm:presLayoutVars>
      </dgm:prSet>
      <dgm:spPr/>
    </dgm:pt>
    <dgm:pt modelId="{4BB3C354-F591-46E2-8277-EDD4F183DFE4}" type="pres">
      <dgm:prSet presAssocID="{D7913A8E-392F-4542-8C21-2FE5107C855C}" presName="spaceBetweenRectangles" presStyleCnt="0"/>
      <dgm:spPr/>
    </dgm:pt>
    <dgm:pt modelId="{29E88E8B-B2E0-4A25-A2CF-473ACF14B096}" type="pres">
      <dgm:prSet presAssocID="{CAE02651-11C4-4B9E-B0B7-63B382D923B2}" presName="parentLin" presStyleCnt="0"/>
      <dgm:spPr/>
    </dgm:pt>
    <dgm:pt modelId="{5771C480-71FC-4AFA-ACD9-735FAB885C7A}" type="pres">
      <dgm:prSet presAssocID="{CAE02651-11C4-4B9E-B0B7-63B382D923B2}" presName="parentLeftMargin" presStyleLbl="node1" presStyleIdx="2" presStyleCnt="5"/>
      <dgm:spPr/>
    </dgm:pt>
    <dgm:pt modelId="{CB3BC6DA-D292-48F6-BF7B-C0DB8B07E105}" type="pres">
      <dgm:prSet presAssocID="{CAE02651-11C4-4B9E-B0B7-63B382D923B2}" presName="parentText" presStyleLbl="node1" presStyleIdx="3" presStyleCnt="5">
        <dgm:presLayoutVars>
          <dgm:chMax val="0"/>
          <dgm:bulletEnabled val="1"/>
        </dgm:presLayoutVars>
      </dgm:prSet>
      <dgm:spPr/>
    </dgm:pt>
    <dgm:pt modelId="{AC1954FD-6B9B-4A6E-9497-C50C79323294}" type="pres">
      <dgm:prSet presAssocID="{CAE02651-11C4-4B9E-B0B7-63B382D923B2}" presName="negativeSpace" presStyleCnt="0"/>
      <dgm:spPr/>
    </dgm:pt>
    <dgm:pt modelId="{5F2EE1B3-E0BB-4ACF-9084-84B7542177D7}" type="pres">
      <dgm:prSet presAssocID="{CAE02651-11C4-4B9E-B0B7-63B382D923B2}" presName="childText" presStyleLbl="conFgAcc1" presStyleIdx="3" presStyleCnt="5">
        <dgm:presLayoutVars>
          <dgm:bulletEnabled val="1"/>
        </dgm:presLayoutVars>
      </dgm:prSet>
      <dgm:spPr/>
    </dgm:pt>
    <dgm:pt modelId="{E01B6F3F-AF44-478A-B691-782A7FBF0A4E}" type="pres">
      <dgm:prSet presAssocID="{D88B9268-870B-44EE-8A3C-13794E480EBC}" presName="spaceBetweenRectangles" presStyleCnt="0"/>
      <dgm:spPr/>
    </dgm:pt>
    <dgm:pt modelId="{69D8ED00-0938-4B4A-831D-B4CCF1F66D50}" type="pres">
      <dgm:prSet presAssocID="{77FEB56E-88FF-4EAE-8031-4A5EE204CF1F}" presName="parentLin" presStyleCnt="0"/>
      <dgm:spPr/>
    </dgm:pt>
    <dgm:pt modelId="{8CF64FE3-97A4-48A9-8245-B3C80874677D}" type="pres">
      <dgm:prSet presAssocID="{77FEB56E-88FF-4EAE-8031-4A5EE204CF1F}" presName="parentLeftMargin" presStyleLbl="node1" presStyleIdx="3" presStyleCnt="5"/>
      <dgm:spPr/>
    </dgm:pt>
    <dgm:pt modelId="{4978551D-EB4B-4AAB-AE9B-8D1A39706E61}" type="pres">
      <dgm:prSet presAssocID="{77FEB56E-88FF-4EAE-8031-4A5EE204CF1F}" presName="parentText" presStyleLbl="node1" presStyleIdx="4" presStyleCnt="5">
        <dgm:presLayoutVars>
          <dgm:chMax val="0"/>
          <dgm:bulletEnabled val="1"/>
        </dgm:presLayoutVars>
      </dgm:prSet>
      <dgm:spPr/>
    </dgm:pt>
    <dgm:pt modelId="{532F8644-5803-46CC-85AD-489C034D9ED2}" type="pres">
      <dgm:prSet presAssocID="{77FEB56E-88FF-4EAE-8031-4A5EE204CF1F}" presName="negativeSpace" presStyleCnt="0"/>
      <dgm:spPr/>
    </dgm:pt>
    <dgm:pt modelId="{062B0EA0-B8F0-4B3C-861D-8321F26E168E}" type="pres">
      <dgm:prSet presAssocID="{77FEB56E-88FF-4EAE-8031-4A5EE204CF1F}" presName="childText" presStyleLbl="conFgAcc1" presStyleIdx="4" presStyleCnt="5">
        <dgm:presLayoutVars>
          <dgm:bulletEnabled val="1"/>
        </dgm:presLayoutVars>
      </dgm:prSet>
      <dgm:spPr/>
    </dgm:pt>
  </dgm:ptLst>
  <dgm:cxnLst>
    <dgm:cxn modelId="{83B18105-A689-4375-9FA5-2EAD8DB1E268}" type="presOf" srcId="{CAE02651-11C4-4B9E-B0B7-63B382D923B2}" destId="{CB3BC6DA-D292-48F6-BF7B-C0DB8B07E105}" srcOrd="1" destOrd="0" presId="urn:microsoft.com/office/officeart/2005/8/layout/list1"/>
    <dgm:cxn modelId="{9EB3310E-BFFD-4591-8C0C-01E5A52B150E}" srcId="{D97C6018-61D1-4980-917F-790B12FD415A}" destId="{D0E4254F-B38D-43FA-98AA-1916FD472D37}" srcOrd="0" destOrd="0" parTransId="{174093A6-F27E-4350-9607-3AFE6B185847}" sibTransId="{CF705805-CBC8-451A-90D9-7FD512A9DF5A}"/>
    <dgm:cxn modelId="{72073C25-187D-4180-9E46-63469D9D8623}" type="presOf" srcId="{77FEB56E-88FF-4EAE-8031-4A5EE204CF1F}" destId="{8CF64FE3-97A4-48A9-8245-B3C80874677D}" srcOrd="0" destOrd="0" presId="urn:microsoft.com/office/officeart/2005/8/layout/list1"/>
    <dgm:cxn modelId="{BA79A22E-EF71-4450-8A44-0B883EE72454}" type="presOf" srcId="{D97C6018-61D1-4980-917F-790B12FD415A}" destId="{D0F96D2D-D099-4F1D-8697-9FD186EC4498}" srcOrd="0" destOrd="0" presId="urn:microsoft.com/office/officeart/2005/8/layout/list1"/>
    <dgm:cxn modelId="{B64A7C2F-667D-4AD3-9F21-6FAC9E6F59A1}" type="presOf" srcId="{46B5D220-B66D-4E4E-959C-2C493525CCF4}" destId="{DA52BF2F-9756-4136-B7E4-24588FBD82D4}" srcOrd="1" destOrd="0" presId="urn:microsoft.com/office/officeart/2005/8/layout/list1"/>
    <dgm:cxn modelId="{C7CBB85C-4451-4DDB-9021-4452964E7EBC}" type="presOf" srcId="{D0E4254F-B38D-43FA-98AA-1916FD472D37}" destId="{B99203E2-D147-48BC-9B3B-2D78459357A3}" srcOrd="0" destOrd="0" presId="urn:microsoft.com/office/officeart/2005/8/layout/list1"/>
    <dgm:cxn modelId="{AE86C163-B8DB-477D-9779-0DEDD204827E}" srcId="{D97C6018-61D1-4980-917F-790B12FD415A}" destId="{CAE02651-11C4-4B9E-B0B7-63B382D923B2}" srcOrd="3" destOrd="0" parTransId="{B3F69163-311E-45C9-8512-F27A41B39867}" sibTransId="{D88B9268-870B-44EE-8A3C-13794E480EBC}"/>
    <dgm:cxn modelId="{43CF246A-0086-4FAC-A5AD-2029B5240729}" type="presOf" srcId="{D0E4254F-B38D-43FA-98AA-1916FD472D37}" destId="{65A71711-73A1-446C-9950-DEC9C5AEC140}" srcOrd="1" destOrd="0" presId="urn:microsoft.com/office/officeart/2005/8/layout/list1"/>
    <dgm:cxn modelId="{FF93A87B-3023-432E-A49C-3DC4F9E25C58}" type="presOf" srcId="{46B5D220-B66D-4E4E-959C-2C493525CCF4}" destId="{0A54894C-3E64-48BC-BBD3-DE682DEE7DAA}" srcOrd="0" destOrd="0" presId="urn:microsoft.com/office/officeart/2005/8/layout/list1"/>
    <dgm:cxn modelId="{3BDE6A82-BBCD-4EBA-997D-CDED6CA0ECB4}" type="presOf" srcId="{19B62F98-84F4-4933-BC51-6D0E688BE0F2}" destId="{7E031473-E68C-4991-B1D5-BA1E680240D6}" srcOrd="1" destOrd="0" presId="urn:microsoft.com/office/officeart/2005/8/layout/list1"/>
    <dgm:cxn modelId="{6218178B-D52A-4557-A4FF-8508AADBD173}" srcId="{D97C6018-61D1-4980-917F-790B12FD415A}" destId="{46B5D220-B66D-4E4E-959C-2C493525CCF4}" srcOrd="1" destOrd="0" parTransId="{287E1617-37F5-4F61-BE54-B255241463DE}" sibTransId="{528C79A8-C00C-47F7-977F-78E48D73268A}"/>
    <dgm:cxn modelId="{67D3A0B7-916C-4A00-AF12-2EA53F657837}" srcId="{D97C6018-61D1-4980-917F-790B12FD415A}" destId="{19B62F98-84F4-4933-BC51-6D0E688BE0F2}" srcOrd="2" destOrd="0" parTransId="{3E8EF59A-5B5D-469F-A75A-C39AB8392170}" sibTransId="{D7913A8E-392F-4542-8C21-2FE5107C855C}"/>
    <dgm:cxn modelId="{88B58CB8-FA6E-4D49-849E-AB22B77809FB}" type="presOf" srcId="{77FEB56E-88FF-4EAE-8031-4A5EE204CF1F}" destId="{4978551D-EB4B-4AAB-AE9B-8D1A39706E61}" srcOrd="1" destOrd="0" presId="urn:microsoft.com/office/officeart/2005/8/layout/list1"/>
    <dgm:cxn modelId="{EF22A2BC-59E1-43EF-94E4-6F17928CF7C7}" type="presOf" srcId="{19B62F98-84F4-4933-BC51-6D0E688BE0F2}" destId="{C7441299-FBB5-44B2-92BA-C4A7F1E46A8B}" srcOrd="0" destOrd="0" presId="urn:microsoft.com/office/officeart/2005/8/layout/list1"/>
    <dgm:cxn modelId="{FFB501C0-0EC7-4547-8FA3-68BB88365DA9}" srcId="{D97C6018-61D1-4980-917F-790B12FD415A}" destId="{77FEB56E-88FF-4EAE-8031-4A5EE204CF1F}" srcOrd="4" destOrd="0" parTransId="{5E60CFB8-285B-49DB-8F03-0D46CDC3B6F0}" sibTransId="{65A55DEB-1D67-41B1-B20D-00AF31358993}"/>
    <dgm:cxn modelId="{788798E6-A7D8-4883-B63B-C3C85F2CA1F3}" type="presOf" srcId="{CAE02651-11C4-4B9E-B0B7-63B382D923B2}" destId="{5771C480-71FC-4AFA-ACD9-735FAB885C7A}" srcOrd="0" destOrd="0" presId="urn:microsoft.com/office/officeart/2005/8/layout/list1"/>
    <dgm:cxn modelId="{C7411C2F-BBA5-4D5D-B2C5-7188F964BB25}" type="presParOf" srcId="{D0F96D2D-D099-4F1D-8697-9FD186EC4498}" destId="{AE1C166D-5C86-41AC-A939-C2B1982A38ED}" srcOrd="0" destOrd="0" presId="urn:microsoft.com/office/officeart/2005/8/layout/list1"/>
    <dgm:cxn modelId="{F537F154-5D71-4878-9EFE-DCC4A4210D95}" type="presParOf" srcId="{AE1C166D-5C86-41AC-A939-C2B1982A38ED}" destId="{B99203E2-D147-48BC-9B3B-2D78459357A3}" srcOrd="0" destOrd="0" presId="urn:microsoft.com/office/officeart/2005/8/layout/list1"/>
    <dgm:cxn modelId="{4C8A7F09-36C5-4604-A1A2-F438601B1C31}" type="presParOf" srcId="{AE1C166D-5C86-41AC-A939-C2B1982A38ED}" destId="{65A71711-73A1-446C-9950-DEC9C5AEC140}" srcOrd="1" destOrd="0" presId="urn:microsoft.com/office/officeart/2005/8/layout/list1"/>
    <dgm:cxn modelId="{B9D96D7C-8528-4990-B86C-75E3B90BAA38}" type="presParOf" srcId="{D0F96D2D-D099-4F1D-8697-9FD186EC4498}" destId="{021DB853-6EC7-4E84-8A67-5C3EB358929C}" srcOrd="1" destOrd="0" presId="urn:microsoft.com/office/officeart/2005/8/layout/list1"/>
    <dgm:cxn modelId="{C78A6475-64A1-4ECF-87AA-46CA0365567D}" type="presParOf" srcId="{D0F96D2D-D099-4F1D-8697-9FD186EC4498}" destId="{EA357D96-04D7-4730-BE7A-CA4C05FB39DA}" srcOrd="2" destOrd="0" presId="urn:microsoft.com/office/officeart/2005/8/layout/list1"/>
    <dgm:cxn modelId="{F809F6BA-3704-4B7C-808F-E32EEDE3AC7E}" type="presParOf" srcId="{D0F96D2D-D099-4F1D-8697-9FD186EC4498}" destId="{CF904E20-852D-4C5A-BCC0-628C774DEED7}" srcOrd="3" destOrd="0" presId="urn:microsoft.com/office/officeart/2005/8/layout/list1"/>
    <dgm:cxn modelId="{3D9B0B39-86FE-48E0-B3D1-D370122F22A4}" type="presParOf" srcId="{D0F96D2D-D099-4F1D-8697-9FD186EC4498}" destId="{B6CF4508-EAC4-4DDE-AFBD-DA8BC7177347}" srcOrd="4" destOrd="0" presId="urn:microsoft.com/office/officeart/2005/8/layout/list1"/>
    <dgm:cxn modelId="{CCF1CE0C-86AF-45B2-82AA-DDF84EFA0E1D}" type="presParOf" srcId="{B6CF4508-EAC4-4DDE-AFBD-DA8BC7177347}" destId="{0A54894C-3E64-48BC-BBD3-DE682DEE7DAA}" srcOrd="0" destOrd="0" presId="urn:microsoft.com/office/officeart/2005/8/layout/list1"/>
    <dgm:cxn modelId="{FE81CC31-2080-44FD-A89F-ED0346DFECCE}" type="presParOf" srcId="{B6CF4508-EAC4-4DDE-AFBD-DA8BC7177347}" destId="{DA52BF2F-9756-4136-B7E4-24588FBD82D4}" srcOrd="1" destOrd="0" presId="urn:microsoft.com/office/officeart/2005/8/layout/list1"/>
    <dgm:cxn modelId="{FE776B5C-968E-41B7-9E9C-6D5AD550AB2E}" type="presParOf" srcId="{D0F96D2D-D099-4F1D-8697-9FD186EC4498}" destId="{424AFAF4-FD5A-4C03-9209-1A825BD0E6AC}" srcOrd="5" destOrd="0" presId="urn:microsoft.com/office/officeart/2005/8/layout/list1"/>
    <dgm:cxn modelId="{C8BC653F-3BDE-45DA-857E-3556804E9DBA}" type="presParOf" srcId="{D0F96D2D-D099-4F1D-8697-9FD186EC4498}" destId="{6E2708CE-BD43-4FC0-ABE9-4332FAEA7D50}" srcOrd="6" destOrd="0" presId="urn:microsoft.com/office/officeart/2005/8/layout/list1"/>
    <dgm:cxn modelId="{321D05F1-A2D0-4446-B08E-F9FC4475BD47}" type="presParOf" srcId="{D0F96D2D-D099-4F1D-8697-9FD186EC4498}" destId="{711FD59A-5A7B-488F-9249-3E7085019431}" srcOrd="7" destOrd="0" presId="urn:microsoft.com/office/officeart/2005/8/layout/list1"/>
    <dgm:cxn modelId="{F12EFBF5-A594-46A0-96F6-52742B4CEB76}" type="presParOf" srcId="{D0F96D2D-D099-4F1D-8697-9FD186EC4498}" destId="{5A25220C-6D9A-4688-9031-621F5E204A67}" srcOrd="8" destOrd="0" presId="urn:microsoft.com/office/officeart/2005/8/layout/list1"/>
    <dgm:cxn modelId="{9BEB5A81-7548-4826-885F-B5F3663869CD}" type="presParOf" srcId="{5A25220C-6D9A-4688-9031-621F5E204A67}" destId="{C7441299-FBB5-44B2-92BA-C4A7F1E46A8B}" srcOrd="0" destOrd="0" presId="urn:microsoft.com/office/officeart/2005/8/layout/list1"/>
    <dgm:cxn modelId="{5AA955B8-B5EC-4FFF-9E12-877E471762DC}" type="presParOf" srcId="{5A25220C-6D9A-4688-9031-621F5E204A67}" destId="{7E031473-E68C-4991-B1D5-BA1E680240D6}" srcOrd="1" destOrd="0" presId="urn:microsoft.com/office/officeart/2005/8/layout/list1"/>
    <dgm:cxn modelId="{A45446BA-D914-4711-9806-A1E984DA0546}" type="presParOf" srcId="{D0F96D2D-D099-4F1D-8697-9FD186EC4498}" destId="{FF209F10-2492-46FF-8BAD-0DEF2E7938FD}" srcOrd="9" destOrd="0" presId="urn:microsoft.com/office/officeart/2005/8/layout/list1"/>
    <dgm:cxn modelId="{4E25E4DC-470B-40BA-8201-6330710CC880}" type="presParOf" srcId="{D0F96D2D-D099-4F1D-8697-9FD186EC4498}" destId="{A93491CC-810E-4998-9D58-50FD64E33FFF}" srcOrd="10" destOrd="0" presId="urn:microsoft.com/office/officeart/2005/8/layout/list1"/>
    <dgm:cxn modelId="{BF0A1E59-60BA-4864-AD5D-8ECC1B766314}" type="presParOf" srcId="{D0F96D2D-D099-4F1D-8697-9FD186EC4498}" destId="{4BB3C354-F591-46E2-8277-EDD4F183DFE4}" srcOrd="11" destOrd="0" presId="urn:microsoft.com/office/officeart/2005/8/layout/list1"/>
    <dgm:cxn modelId="{F7BFE0B5-17B7-4440-85D9-9BB799786769}" type="presParOf" srcId="{D0F96D2D-D099-4F1D-8697-9FD186EC4498}" destId="{29E88E8B-B2E0-4A25-A2CF-473ACF14B096}" srcOrd="12" destOrd="0" presId="urn:microsoft.com/office/officeart/2005/8/layout/list1"/>
    <dgm:cxn modelId="{6CF353FF-FF41-4952-B5C7-125E3569DC39}" type="presParOf" srcId="{29E88E8B-B2E0-4A25-A2CF-473ACF14B096}" destId="{5771C480-71FC-4AFA-ACD9-735FAB885C7A}" srcOrd="0" destOrd="0" presId="urn:microsoft.com/office/officeart/2005/8/layout/list1"/>
    <dgm:cxn modelId="{8CE86346-0664-459A-A4A4-A79735E28A1B}" type="presParOf" srcId="{29E88E8B-B2E0-4A25-A2CF-473ACF14B096}" destId="{CB3BC6DA-D292-48F6-BF7B-C0DB8B07E105}" srcOrd="1" destOrd="0" presId="urn:microsoft.com/office/officeart/2005/8/layout/list1"/>
    <dgm:cxn modelId="{EC48AF8E-F493-4132-A026-FD83740AA95F}" type="presParOf" srcId="{D0F96D2D-D099-4F1D-8697-9FD186EC4498}" destId="{AC1954FD-6B9B-4A6E-9497-C50C79323294}" srcOrd="13" destOrd="0" presId="urn:microsoft.com/office/officeart/2005/8/layout/list1"/>
    <dgm:cxn modelId="{A12194C1-7018-44D8-87AC-27CA2A7D1914}" type="presParOf" srcId="{D0F96D2D-D099-4F1D-8697-9FD186EC4498}" destId="{5F2EE1B3-E0BB-4ACF-9084-84B7542177D7}" srcOrd="14" destOrd="0" presId="urn:microsoft.com/office/officeart/2005/8/layout/list1"/>
    <dgm:cxn modelId="{73031555-D7D8-4173-BE21-57839BF6970A}" type="presParOf" srcId="{D0F96D2D-D099-4F1D-8697-9FD186EC4498}" destId="{E01B6F3F-AF44-478A-B691-782A7FBF0A4E}" srcOrd="15" destOrd="0" presId="urn:microsoft.com/office/officeart/2005/8/layout/list1"/>
    <dgm:cxn modelId="{1742FFA6-D855-4B8A-8F15-5F32BD25D410}" type="presParOf" srcId="{D0F96D2D-D099-4F1D-8697-9FD186EC4498}" destId="{69D8ED00-0938-4B4A-831D-B4CCF1F66D50}" srcOrd="16" destOrd="0" presId="urn:microsoft.com/office/officeart/2005/8/layout/list1"/>
    <dgm:cxn modelId="{9CCAE0D7-4E19-4678-B07F-DC78480308EB}" type="presParOf" srcId="{69D8ED00-0938-4B4A-831D-B4CCF1F66D50}" destId="{8CF64FE3-97A4-48A9-8245-B3C80874677D}" srcOrd="0" destOrd="0" presId="urn:microsoft.com/office/officeart/2005/8/layout/list1"/>
    <dgm:cxn modelId="{8F25A353-D0DB-4335-BC7E-3B66917B8731}" type="presParOf" srcId="{69D8ED00-0938-4B4A-831D-B4CCF1F66D50}" destId="{4978551D-EB4B-4AAB-AE9B-8D1A39706E61}" srcOrd="1" destOrd="0" presId="urn:microsoft.com/office/officeart/2005/8/layout/list1"/>
    <dgm:cxn modelId="{00CDA00E-90C6-4803-8B2F-2E8CE6271D3B}" type="presParOf" srcId="{D0F96D2D-D099-4F1D-8697-9FD186EC4498}" destId="{532F8644-5803-46CC-85AD-489C034D9ED2}" srcOrd="17" destOrd="0" presId="urn:microsoft.com/office/officeart/2005/8/layout/list1"/>
    <dgm:cxn modelId="{6F9A20A1-E0EC-4AB5-A0EB-38B932905459}" type="presParOf" srcId="{D0F96D2D-D099-4F1D-8697-9FD186EC4498}" destId="{062B0EA0-B8F0-4B3C-861D-8321F26E168E}"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357D96-04D7-4730-BE7A-CA4C05FB39DA}">
      <dsp:nvSpPr>
        <dsp:cNvPr id="0" name=""/>
        <dsp:cNvSpPr/>
      </dsp:nvSpPr>
      <dsp:spPr>
        <a:xfrm>
          <a:off x="0" y="358883"/>
          <a:ext cx="6797675" cy="6048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5A71711-73A1-446C-9950-DEC9C5AEC140}">
      <dsp:nvSpPr>
        <dsp:cNvPr id="0" name=""/>
        <dsp:cNvSpPr/>
      </dsp:nvSpPr>
      <dsp:spPr>
        <a:xfrm>
          <a:off x="339883" y="4643"/>
          <a:ext cx="4758372" cy="7084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1066800">
            <a:lnSpc>
              <a:spcPct val="90000"/>
            </a:lnSpc>
            <a:spcBef>
              <a:spcPct val="0"/>
            </a:spcBef>
            <a:spcAft>
              <a:spcPct val="35000"/>
            </a:spcAft>
            <a:buNone/>
            <a:defRPr cap="all"/>
          </a:pPr>
          <a:r>
            <a:rPr lang="en-US" sz="2400" kern="1200" dirty="0"/>
            <a:t>Introduction</a:t>
          </a:r>
        </a:p>
      </dsp:txBody>
      <dsp:txXfrm>
        <a:off x="374468" y="39228"/>
        <a:ext cx="4689202" cy="639310"/>
      </dsp:txXfrm>
    </dsp:sp>
    <dsp:sp modelId="{6E2708CE-BD43-4FC0-ABE9-4332FAEA7D50}">
      <dsp:nvSpPr>
        <dsp:cNvPr id="0" name=""/>
        <dsp:cNvSpPr/>
      </dsp:nvSpPr>
      <dsp:spPr>
        <a:xfrm>
          <a:off x="0" y="1447523"/>
          <a:ext cx="6797675" cy="6048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A52BF2F-9756-4136-B7E4-24588FBD82D4}">
      <dsp:nvSpPr>
        <dsp:cNvPr id="0" name=""/>
        <dsp:cNvSpPr/>
      </dsp:nvSpPr>
      <dsp:spPr>
        <a:xfrm>
          <a:off x="339883" y="1093283"/>
          <a:ext cx="4758372" cy="7084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1066800">
            <a:lnSpc>
              <a:spcPct val="90000"/>
            </a:lnSpc>
            <a:spcBef>
              <a:spcPct val="0"/>
            </a:spcBef>
            <a:spcAft>
              <a:spcPct val="35000"/>
            </a:spcAft>
            <a:buNone/>
            <a:defRPr cap="all"/>
          </a:pPr>
          <a:r>
            <a:rPr lang="en-US" sz="2400" kern="1200" dirty="0"/>
            <a:t>BACKGROUND</a:t>
          </a:r>
        </a:p>
      </dsp:txBody>
      <dsp:txXfrm>
        <a:off x="374468" y="1127868"/>
        <a:ext cx="4689202" cy="639310"/>
      </dsp:txXfrm>
    </dsp:sp>
    <dsp:sp modelId="{A93491CC-810E-4998-9D58-50FD64E33FFF}">
      <dsp:nvSpPr>
        <dsp:cNvPr id="0" name=""/>
        <dsp:cNvSpPr/>
      </dsp:nvSpPr>
      <dsp:spPr>
        <a:xfrm>
          <a:off x="0" y="2536163"/>
          <a:ext cx="6797675" cy="6048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E031473-E68C-4991-B1D5-BA1E680240D6}">
      <dsp:nvSpPr>
        <dsp:cNvPr id="0" name=""/>
        <dsp:cNvSpPr/>
      </dsp:nvSpPr>
      <dsp:spPr>
        <a:xfrm>
          <a:off x="339883" y="2181923"/>
          <a:ext cx="4758372" cy="7084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1066800">
            <a:lnSpc>
              <a:spcPct val="90000"/>
            </a:lnSpc>
            <a:spcBef>
              <a:spcPct val="0"/>
            </a:spcBef>
            <a:spcAft>
              <a:spcPct val="35000"/>
            </a:spcAft>
            <a:buNone/>
            <a:defRPr cap="all"/>
          </a:pPr>
          <a:r>
            <a:rPr lang="en-US" sz="2400" kern="1200" dirty="0"/>
            <a:t>ANALYSIS OF THE CASE</a:t>
          </a:r>
        </a:p>
      </dsp:txBody>
      <dsp:txXfrm>
        <a:off x="374468" y="2216508"/>
        <a:ext cx="4689202" cy="639310"/>
      </dsp:txXfrm>
    </dsp:sp>
    <dsp:sp modelId="{5F2EE1B3-E0BB-4ACF-9084-84B7542177D7}">
      <dsp:nvSpPr>
        <dsp:cNvPr id="0" name=""/>
        <dsp:cNvSpPr/>
      </dsp:nvSpPr>
      <dsp:spPr>
        <a:xfrm>
          <a:off x="0" y="3624803"/>
          <a:ext cx="6797675" cy="6048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B3BC6DA-D292-48F6-BF7B-C0DB8B07E105}">
      <dsp:nvSpPr>
        <dsp:cNvPr id="0" name=""/>
        <dsp:cNvSpPr/>
      </dsp:nvSpPr>
      <dsp:spPr>
        <a:xfrm>
          <a:off x="339883" y="3270563"/>
          <a:ext cx="4758372" cy="7084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1066800">
            <a:lnSpc>
              <a:spcPct val="90000"/>
            </a:lnSpc>
            <a:spcBef>
              <a:spcPct val="0"/>
            </a:spcBef>
            <a:spcAft>
              <a:spcPct val="35000"/>
            </a:spcAft>
            <a:buNone/>
            <a:defRPr cap="all"/>
          </a:pPr>
          <a:r>
            <a:rPr lang="en-US" sz="2400" kern="1200" dirty="0"/>
            <a:t>DISCUSSION</a:t>
          </a:r>
        </a:p>
      </dsp:txBody>
      <dsp:txXfrm>
        <a:off x="374468" y="3305148"/>
        <a:ext cx="4689202" cy="639310"/>
      </dsp:txXfrm>
    </dsp:sp>
    <dsp:sp modelId="{062B0EA0-B8F0-4B3C-861D-8321F26E168E}">
      <dsp:nvSpPr>
        <dsp:cNvPr id="0" name=""/>
        <dsp:cNvSpPr/>
      </dsp:nvSpPr>
      <dsp:spPr>
        <a:xfrm>
          <a:off x="0" y="4713443"/>
          <a:ext cx="6797675" cy="6048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978551D-EB4B-4AAB-AE9B-8D1A39706E61}">
      <dsp:nvSpPr>
        <dsp:cNvPr id="0" name=""/>
        <dsp:cNvSpPr/>
      </dsp:nvSpPr>
      <dsp:spPr>
        <a:xfrm>
          <a:off x="339883" y="4359203"/>
          <a:ext cx="4758372" cy="7084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1066800">
            <a:lnSpc>
              <a:spcPct val="90000"/>
            </a:lnSpc>
            <a:spcBef>
              <a:spcPct val="0"/>
            </a:spcBef>
            <a:spcAft>
              <a:spcPct val="35000"/>
            </a:spcAft>
            <a:buNone/>
            <a:defRPr cap="all"/>
          </a:pPr>
          <a:r>
            <a:rPr lang="en-US" sz="2400" kern="1200" dirty="0"/>
            <a:t>CONCLUSION</a:t>
          </a:r>
        </a:p>
      </dsp:txBody>
      <dsp:txXfrm>
        <a:off x="374468" y="4393788"/>
        <a:ext cx="4689202" cy="63931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D1EADE-8E88-4C7C-8AC5-FB148DE4940E}" type="datetime1">
              <a:rPr lang="en-US" smtClean="0"/>
              <a:t>4/23/2025</a:t>
            </a:fld>
            <a:endParaRPr lang="en-US"/>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68248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4/23/2025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59794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4/23/2025</a:t>
            </a:fld>
            <a:endParaRPr lang="en-US"/>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07763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4/23/2025</a:t>
            </a:fld>
            <a:endParaRPr lang="en-US"/>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21022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4/23/2025</a:t>
            </a:fld>
            <a:endParaRPr lang="en-US"/>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14127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4/23/2025</a:t>
            </a:fld>
            <a:endParaRPr lang="en-US"/>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4624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4/23/2025</a:t>
            </a:fld>
            <a:endParaRPr lang="en-US"/>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33750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4/23/2025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98411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4/23/2025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41493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4/23/2025</a:t>
            </a:fld>
            <a:endParaRPr lang="en-US"/>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2355802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4/23/2025</a:t>
            </a:fld>
            <a:endParaRPr lang="en-US"/>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7E7843D-FF13-4365-9478-9625B70A2705}"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8769189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4/23/2025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5309976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4/23/2025</a:t>
            </a:fld>
            <a:endParaRPr lang="en-US"/>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5718860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4/23/2025</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813992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4/23/2025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873709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4/23/2025</a:t>
            </a:fld>
            <a:endParaRPr lang="en-US"/>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30589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31BA835-12AC-4E8F-955A-EA3F4DE2791F}" type="datetime1">
              <a:rPr lang="en-US" smtClean="0"/>
              <a:t>4/23/2025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3828132684"/>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www.cbsnews.com/" TargetMode="External"/><Relationship Id="rId3" Type="http://schemas.openxmlformats.org/officeDocument/2006/relationships/hyperlink" Target="file:///C:\Users\marwa\OneDrive\Desktop\Legal%20and%20Professional%20Issues%20in%20Computing\Project\5159928.pdf" TargetMode="External"/><Relationship Id="rId7" Type="http://schemas.openxmlformats.org/officeDocument/2006/relationships/hyperlink" Target="https://techpolicy.press/" TargetMode="External"/><Relationship Id="rId2" Type="http://schemas.openxmlformats.org/officeDocument/2006/relationships/hyperlink" Target="https://www.nytimes.com/2024/10/23/technology/characterai-lawsuit-teen-suicide.html" TargetMode="External"/><Relationship Id="rId1" Type="http://schemas.openxmlformats.org/officeDocument/2006/relationships/slideLayout" Target="../slideLayouts/slideLayout2.xml"/><Relationship Id="rId6" Type="http://schemas.openxmlformats.org/officeDocument/2006/relationships/hyperlink" Target="https://www.washingtonpost.com/" TargetMode="External"/><Relationship Id="rId5" Type="http://schemas.openxmlformats.org/officeDocument/2006/relationships/hyperlink" Target="file:///C:\Users\marwa\OneDrive\Desktop\Legal%20and%20Professional%20Issues%20in%20Computing\Project\5107942.pdf" TargetMode="External"/><Relationship Id="rId4" Type="http://schemas.openxmlformats.org/officeDocument/2006/relationships/hyperlink" Target="file:///C:\Users\marwa\OneDrive\Desktop\Legal%20and%20Professional%20Issues%20in%20Computing\Project\Garcia-v-Character-Technologies-Complaint-10-23-24.pdf" TargetMode="External"/><Relationship Id="rId9" Type="http://schemas.openxmlformats.org/officeDocument/2006/relationships/hyperlink" Target="https://socialmediavictims.org/"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B40A1-351E-DE45-3588-CA90232A720A}"/>
              </a:ext>
            </a:extLst>
          </p:cNvPr>
          <p:cNvSpPr>
            <a:spLocks noGrp="1"/>
          </p:cNvSpPr>
          <p:nvPr>
            <p:ph type="ctrTitle"/>
          </p:nvPr>
        </p:nvSpPr>
        <p:spPr>
          <a:xfrm>
            <a:off x="248843" y="586768"/>
            <a:ext cx="7396309" cy="724406"/>
          </a:xfrm>
        </p:spPr>
        <p:txBody>
          <a:bodyPr anchor="t">
            <a:normAutofit/>
          </a:bodyPr>
          <a:lstStyle/>
          <a:p>
            <a:r>
              <a:rPr lang="en-US" sz="2800" b="1" dirty="0">
                <a:latin typeface="Aharoni" panose="02010803020104030203" pitchFamily="2" charset="-79"/>
                <a:cs typeface="Aharoni" panose="02010803020104030203" pitchFamily="2" charset="-79"/>
              </a:rPr>
              <a:t>Character.AI Wrongful Death Lawsuit (2024)</a:t>
            </a:r>
          </a:p>
        </p:txBody>
      </p:sp>
      <p:sp>
        <p:nvSpPr>
          <p:cNvPr id="3" name="Subtitle 2">
            <a:extLst>
              <a:ext uri="{FF2B5EF4-FFF2-40B4-BE49-F238E27FC236}">
                <a16:creationId xmlns:a16="http://schemas.microsoft.com/office/drawing/2014/main" id="{FB91DE73-6EC2-09DA-AA51-C78F2980268E}"/>
              </a:ext>
            </a:extLst>
          </p:cNvPr>
          <p:cNvSpPr>
            <a:spLocks noGrp="1"/>
          </p:cNvSpPr>
          <p:nvPr>
            <p:ph type="subTitle" idx="1"/>
          </p:nvPr>
        </p:nvSpPr>
        <p:spPr>
          <a:xfrm>
            <a:off x="6284783" y="5776771"/>
            <a:ext cx="1360962" cy="845487"/>
          </a:xfrm>
        </p:spPr>
        <p:txBody>
          <a:bodyPr anchor="b">
            <a:normAutofit/>
          </a:bodyPr>
          <a:lstStyle/>
          <a:p>
            <a:r>
              <a:rPr lang="en-US" dirty="0"/>
              <a:t>Group 50</a:t>
            </a:r>
          </a:p>
        </p:txBody>
      </p:sp>
      <p:pic>
        <p:nvPicPr>
          <p:cNvPr id="4" name="Picture 3" descr="Angle view of circuit shaped like a brain">
            <a:extLst>
              <a:ext uri="{FF2B5EF4-FFF2-40B4-BE49-F238E27FC236}">
                <a16:creationId xmlns:a16="http://schemas.microsoft.com/office/drawing/2014/main" id="{0F4D61F0-6693-0A73-B8CE-D3241744895B}"/>
              </a:ext>
            </a:extLst>
          </p:cNvPr>
          <p:cNvPicPr>
            <a:picLocks noChangeAspect="1"/>
          </p:cNvPicPr>
          <p:nvPr/>
        </p:nvPicPr>
        <p:blipFill>
          <a:blip r:embed="rId2"/>
          <a:srcRect l="20244" r="20099" b="2"/>
          <a:stretch/>
        </p:blipFill>
        <p:spPr>
          <a:xfrm>
            <a:off x="7652238" y="0"/>
            <a:ext cx="4539762" cy="6857999"/>
          </a:xfrm>
          <a:prstGeom prst="rect">
            <a:avLst/>
          </a:prstGeom>
        </p:spPr>
      </p:pic>
      <p:sp>
        <p:nvSpPr>
          <p:cNvPr id="7" name="Title 1">
            <a:extLst>
              <a:ext uri="{FF2B5EF4-FFF2-40B4-BE49-F238E27FC236}">
                <a16:creationId xmlns:a16="http://schemas.microsoft.com/office/drawing/2014/main" id="{016C3669-4FAD-6212-E592-8D2908C9A9FB}"/>
              </a:ext>
            </a:extLst>
          </p:cNvPr>
          <p:cNvSpPr txBox="1">
            <a:spLocks/>
          </p:cNvSpPr>
          <p:nvPr/>
        </p:nvSpPr>
        <p:spPr>
          <a:xfrm>
            <a:off x="255928" y="157933"/>
            <a:ext cx="5886423" cy="542158"/>
          </a:xfrm>
          <a:prstGeom prst="rect">
            <a:avLst/>
          </a:prstGeom>
        </p:spPr>
        <p:txBody>
          <a:bodyPr vert="horz" lIns="91440" tIns="45720" rIns="91440" bIns="45720" rtlCol="0" anchor="t">
            <a:normAutofit fontScale="85000" lnSpcReduction="10000"/>
          </a:bodyPr>
          <a:lstStyle>
            <a:lvl1pPr algn="l" defTabSz="914400" rtl="0" eaLnBrk="1" latinLnBrk="0" hangingPunct="1">
              <a:lnSpc>
                <a:spcPct val="100000"/>
              </a:lnSpc>
              <a:spcBef>
                <a:spcPct val="0"/>
              </a:spcBef>
              <a:buNone/>
              <a:defRPr sz="5400" kern="1200" cap="all" spc="30" baseline="0">
                <a:solidFill>
                  <a:schemeClr val="tx1"/>
                </a:solidFill>
                <a:latin typeface="+mj-lt"/>
                <a:ea typeface="+mj-ea"/>
                <a:cs typeface="+mj-cs"/>
              </a:defRPr>
            </a:lvl1pPr>
          </a:lstStyle>
          <a:p>
            <a:r>
              <a:rPr lang="en-US" sz="2000" dirty="0">
                <a:latin typeface="Aharoni" panose="02010803020104030203" pitchFamily="2" charset="-79"/>
                <a:cs typeface="Aharoni" panose="02010803020104030203" pitchFamily="2" charset="-79"/>
              </a:rPr>
              <a:t>Legal and Professional Issues in Computing</a:t>
            </a:r>
          </a:p>
        </p:txBody>
      </p:sp>
      <p:graphicFrame>
        <p:nvGraphicFramePr>
          <p:cNvPr id="29" name="Table 28">
            <a:extLst>
              <a:ext uri="{FF2B5EF4-FFF2-40B4-BE49-F238E27FC236}">
                <a16:creationId xmlns:a16="http://schemas.microsoft.com/office/drawing/2014/main" id="{234CC7C1-EB8C-D08F-9379-78F03D57423D}"/>
              </a:ext>
            </a:extLst>
          </p:cNvPr>
          <p:cNvGraphicFramePr>
            <a:graphicFrameLocks noGrp="1"/>
          </p:cNvGraphicFramePr>
          <p:nvPr>
            <p:extLst>
              <p:ext uri="{D42A27DB-BD31-4B8C-83A1-F6EECF244321}">
                <p14:modId xmlns:p14="http://schemas.microsoft.com/office/powerpoint/2010/main" val="3383763279"/>
              </p:ext>
            </p:extLst>
          </p:nvPr>
        </p:nvGraphicFramePr>
        <p:xfrm>
          <a:off x="1865611" y="3265694"/>
          <a:ext cx="5636513" cy="2686175"/>
        </p:xfrm>
        <a:graphic>
          <a:graphicData uri="http://schemas.openxmlformats.org/drawingml/2006/table">
            <a:tbl>
              <a:tblPr firstRow="1" firstCol="1" bandRow="1">
                <a:tableStyleId>{5C22544A-7EE6-4342-B048-85BDC9FD1C3A}</a:tableStyleId>
              </a:tblPr>
              <a:tblGrid>
                <a:gridCol w="696875">
                  <a:extLst>
                    <a:ext uri="{9D8B030D-6E8A-4147-A177-3AD203B41FA5}">
                      <a16:colId xmlns:a16="http://schemas.microsoft.com/office/drawing/2014/main" val="1407439236"/>
                    </a:ext>
                  </a:extLst>
                </a:gridCol>
                <a:gridCol w="2457763">
                  <a:extLst>
                    <a:ext uri="{9D8B030D-6E8A-4147-A177-3AD203B41FA5}">
                      <a16:colId xmlns:a16="http://schemas.microsoft.com/office/drawing/2014/main" val="1739344872"/>
                    </a:ext>
                  </a:extLst>
                </a:gridCol>
                <a:gridCol w="2481875">
                  <a:extLst>
                    <a:ext uri="{9D8B030D-6E8A-4147-A177-3AD203B41FA5}">
                      <a16:colId xmlns:a16="http://schemas.microsoft.com/office/drawing/2014/main" val="2249018844"/>
                    </a:ext>
                  </a:extLst>
                </a:gridCol>
              </a:tblGrid>
              <a:tr h="251843">
                <a:tc>
                  <a:txBody>
                    <a:bodyPr/>
                    <a:lstStyle/>
                    <a:p>
                      <a:pPr marL="0" marR="0" algn="ctr">
                        <a:lnSpc>
                          <a:spcPct val="115000"/>
                        </a:lnSpc>
                        <a:spcAft>
                          <a:spcPts val="800"/>
                        </a:spcAft>
                        <a:buNone/>
                      </a:pPr>
                      <a:r>
                        <a:rPr lang="en-US" sz="1200" kern="100">
                          <a:effectLst/>
                        </a:rPr>
                        <a:t>ID</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dirty="0">
                          <a:effectLst/>
                        </a:rPr>
                        <a:t>Student Name</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BUE Email</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982702783"/>
                  </a:ext>
                </a:extLst>
              </a:tr>
              <a:tr h="347700">
                <a:tc>
                  <a:txBody>
                    <a:bodyPr/>
                    <a:lstStyle/>
                    <a:p>
                      <a:pPr marL="0" marR="0" algn="ctr">
                        <a:lnSpc>
                          <a:spcPct val="115000"/>
                        </a:lnSpc>
                        <a:spcAft>
                          <a:spcPts val="800"/>
                        </a:spcAft>
                        <a:buNone/>
                      </a:pPr>
                      <a:r>
                        <a:rPr lang="en-US" sz="1200" kern="100">
                          <a:effectLst/>
                        </a:rPr>
                        <a:t>233802</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Ziad sameh</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Ziad233802@bue.edu.eg</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10282376"/>
                  </a:ext>
                </a:extLst>
              </a:tr>
              <a:tr h="347808">
                <a:tc>
                  <a:txBody>
                    <a:bodyPr/>
                    <a:lstStyle/>
                    <a:p>
                      <a:pPr marL="0" marR="0" algn="ctr">
                        <a:lnSpc>
                          <a:spcPct val="115000"/>
                        </a:lnSpc>
                        <a:spcAft>
                          <a:spcPts val="800"/>
                        </a:spcAft>
                        <a:buNone/>
                      </a:pPr>
                      <a:r>
                        <a:rPr lang="en-US" sz="1200" kern="100">
                          <a:effectLst/>
                        </a:rPr>
                        <a:t>248964</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dirty="0">
                          <a:effectLst/>
                        </a:rPr>
                        <a:t>Osama </a:t>
                      </a:r>
                      <a:r>
                        <a:rPr lang="en-US" sz="1200" kern="100" dirty="0" err="1">
                          <a:effectLst/>
                        </a:rPr>
                        <a:t>mohib</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Osama248964@bue.edu.eg</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094323630"/>
                  </a:ext>
                </a:extLst>
              </a:tr>
              <a:tr h="347808">
                <a:tc>
                  <a:txBody>
                    <a:bodyPr/>
                    <a:lstStyle/>
                    <a:p>
                      <a:pPr marL="0" marR="0" algn="ctr">
                        <a:lnSpc>
                          <a:spcPct val="115000"/>
                        </a:lnSpc>
                        <a:spcAft>
                          <a:spcPts val="800"/>
                        </a:spcAft>
                        <a:buNone/>
                      </a:pPr>
                      <a:r>
                        <a:rPr lang="en-US" sz="1200" kern="100">
                          <a:effectLst/>
                        </a:rPr>
                        <a:t>242025</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Marwan Adel Azmy</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marwan242025@bue.edu.eg</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512238021"/>
                  </a:ext>
                </a:extLst>
              </a:tr>
              <a:tr h="347808">
                <a:tc>
                  <a:txBody>
                    <a:bodyPr/>
                    <a:lstStyle/>
                    <a:p>
                      <a:pPr marL="0" marR="0" algn="ctr">
                        <a:lnSpc>
                          <a:spcPct val="115000"/>
                        </a:lnSpc>
                        <a:spcAft>
                          <a:spcPts val="800"/>
                        </a:spcAft>
                        <a:buNone/>
                      </a:pPr>
                      <a:r>
                        <a:rPr lang="en-US" sz="1200" kern="100">
                          <a:effectLst/>
                        </a:rPr>
                        <a:t>244492</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Marwan ahmed</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marwan244492@bue.edu.eg</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47375274"/>
                  </a:ext>
                </a:extLst>
              </a:tr>
              <a:tr h="347700">
                <a:tc>
                  <a:txBody>
                    <a:bodyPr/>
                    <a:lstStyle/>
                    <a:p>
                      <a:pPr marL="0" marR="0" algn="ctr">
                        <a:lnSpc>
                          <a:spcPct val="115000"/>
                        </a:lnSpc>
                        <a:spcAft>
                          <a:spcPts val="800"/>
                        </a:spcAft>
                        <a:buNone/>
                      </a:pPr>
                      <a:r>
                        <a:rPr lang="en-US" sz="1200" kern="100">
                          <a:effectLst/>
                        </a:rPr>
                        <a:t>245975</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Zeyad ashraf</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zeyad245975@bue.edu.eg</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826862290"/>
                  </a:ext>
                </a:extLst>
              </a:tr>
              <a:tr h="347700">
                <a:tc>
                  <a:txBody>
                    <a:bodyPr/>
                    <a:lstStyle/>
                    <a:p>
                      <a:pPr marL="0" marR="0" algn="ctr">
                        <a:lnSpc>
                          <a:spcPct val="115000"/>
                        </a:lnSpc>
                        <a:spcAft>
                          <a:spcPts val="800"/>
                        </a:spcAft>
                        <a:buNone/>
                      </a:pPr>
                      <a:r>
                        <a:rPr lang="en-US" sz="1200" kern="100">
                          <a:effectLst/>
                        </a:rPr>
                        <a:t>245479</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dirty="0">
                          <a:effectLst/>
                        </a:rPr>
                        <a:t>Aly Ahmed</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Aly245479@bue.edu.eg</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10875064"/>
                  </a:ext>
                </a:extLst>
              </a:tr>
              <a:tr h="347808">
                <a:tc>
                  <a:txBody>
                    <a:bodyPr/>
                    <a:lstStyle/>
                    <a:p>
                      <a:pPr marL="0" marR="0" algn="ctr">
                        <a:lnSpc>
                          <a:spcPct val="115000"/>
                        </a:lnSpc>
                        <a:spcAft>
                          <a:spcPts val="800"/>
                        </a:spcAft>
                        <a:buNone/>
                      </a:pPr>
                      <a:r>
                        <a:rPr lang="en-US" sz="1200" kern="100">
                          <a:effectLst/>
                        </a:rPr>
                        <a:t>242251</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a:effectLst/>
                        </a:rPr>
                        <a:t>Mostafa rafaat</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200" kern="100" dirty="0">
                          <a:effectLst/>
                        </a:rPr>
                        <a:t>Mostafa242251@bue.edu.eg</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395293079"/>
                  </a:ext>
                </a:extLst>
              </a:tr>
            </a:tbl>
          </a:graphicData>
        </a:graphic>
      </p:graphicFrame>
      <p:pic>
        <p:nvPicPr>
          <p:cNvPr id="31" name="image16.png" descr="A blue and red logo&#10;&#10;AI-generated content may be incorrect.">
            <a:extLst>
              <a:ext uri="{FF2B5EF4-FFF2-40B4-BE49-F238E27FC236}">
                <a16:creationId xmlns:a16="http://schemas.microsoft.com/office/drawing/2014/main" id="{6BFFA05D-D23E-6678-2A68-AA5C21B53FB0}"/>
              </a:ext>
            </a:extLst>
          </p:cNvPr>
          <p:cNvPicPr/>
          <p:nvPr/>
        </p:nvPicPr>
        <p:blipFill>
          <a:blip r:embed="rId3"/>
          <a:srcRect/>
          <a:stretch>
            <a:fillRect/>
          </a:stretch>
        </p:blipFill>
        <p:spPr>
          <a:xfrm>
            <a:off x="6842199" y="32291"/>
            <a:ext cx="733425" cy="518160"/>
          </a:xfrm>
          <a:prstGeom prst="rect">
            <a:avLst/>
          </a:prstGeom>
          <a:ln/>
        </p:spPr>
      </p:pic>
      <p:sp>
        <p:nvSpPr>
          <p:cNvPr id="39" name="TextBox 38">
            <a:extLst>
              <a:ext uri="{FF2B5EF4-FFF2-40B4-BE49-F238E27FC236}">
                <a16:creationId xmlns:a16="http://schemas.microsoft.com/office/drawing/2014/main" id="{27330B43-E2BF-6B62-323E-90D9A7486338}"/>
              </a:ext>
            </a:extLst>
          </p:cNvPr>
          <p:cNvSpPr txBox="1"/>
          <p:nvPr/>
        </p:nvSpPr>
        <p:spPr>
          <a:xfrm>
            <a:off x="-1026268" y="1327597"/>
            <a:ext cx="6094378" cy="530915"/>
          </a:xfrm>
          <a:prstGeom prst="rect">
            <a:avLst/>
          </a:prstGeom>
          <a:noFill/>
        </p:spPr>
        <p:txBody>
          <a:bodyPr wrap="square">
            <a:spAutoFit/>
          </a:bodyPr>
          <a:lstStyle/>
          <a:p>
            <a:pPr indent="228600" algn="ctr"/>
            <a:r>
              <a:rPr lang="en-US" sz="1800" b="1" i="1" dirty="0">
                <a:solidFill>
                  <a:srgbClr val="C0504D"/>
                </a:solidFill>
                <a:effectLst/>
                <a:latin typeface="Arial" panose="020B0604020202020204" pitchFamily="34" charset="0"/>
                <a:ea typeface="Arial" panose="020B0604020202020204" pitchFamily="34" charset="0"/>
              </a:rPr>
              <a:t>Prepared for</a:t>
            </a:r>
            <a:r>
              <a:rPr lang="en-US" sz="1800" i="1" dirty="0">
                <a:solidFill>
                  <a:srgbClr val="C0504D"/>
                </a:solidFill>
                <a:effectLst/>
                <a:latin typeface="Arial" panose="020B0604020202020204" pitchFamily="34" charset="0"/>
                <a:ea typeface="Arial" panose="020B0604020202020204" pitchFamily="34" charset="0"/>
              </a:rPr>
              <a:t>: </a:t>
            </a:r>
            <a:r>
              <a:rPr lang="en-US" b="1" i="1" dirty="0">
                <a:solidFill>
                  <a:srgbClr val="242424"/>
                </a:solidFill>
                <a:effectLst/>
              </a:rPr>
              <a:t>Randa Elbialy</a:t>
            </a:r>
          </a:p>
          <a:p>
            <a:pPr marL="0" marR="0" indent="228600" algn="ctr"/>
            <a:endParaRPr lang="en-US" sz="1050" dirty="0">
              <a:effectLst/>
              <a:latin typeface="Calibri" panose="020F0502020204030204" pitchFamily="34" charset="0"/>
              <a:ea typeface="Calibri" panose="020F0502020204030204" pitchFamily="34" charset="0"/>
            </a:endParaRPr>
          </a:p>
        </p:txBody>
      </p:sp>
      <p:sp>
        <p:nvSpPr>
          <p:cNvPr id="41" name="TextBox 40">
            <a:extLst>
              <a:ext uri="{FF2B5EF4-FFF2-40B4-BE49-F238E27FC236}">
                <a16:creationId xmlns:a16="http://schemas.microsoft.com/office/drawing/2014/main" id="{C218CA37-2657-B3FC-92DB-307E21290A29}"/>
              </a:ext>
            </a:extLst>
          </p:cNvPr>
          <p:cNvSpPr txBox="1"/>
          <p:nvPr/>
        </p:nvSpPr>
        <p:spPr>
          <a:xfrm>
            <a:off x="-1026268" y="2835772"/>
            <a:ext cx="6896910" cy="369332"/>
          </a:xfrm>
          <a:prstGeom prst="rect">
            <a:avLst/>
          </a:prstGeom>
          <a:noFill/>
        </p:spPr>
        <p:txBody>
          <a:bodyPr wrap="square">
            <a:spAutoFit/>
          </a:bodyPr>
          <a:lstStyle/>
          <a:p>
            <a:pPr marL="0" marR="0" indent="228600" algn="ctr"/>
            <a:r>
              <a:rPr lang="en-US" sz="1800" b="1" i="1" dirty="0">
                <a:solidFill>
                  <a:srgbClr val="C0504D"/>
                </a:solidFill>
                <a:effectLst/>
                <a:latin typeface="Arial" panose="020B0604020202020204" pitchFamily="34" charset="0"/>
                <a:ea typeface="Arial" panose="020B0604020202020204" pitchFamily="34" charset="0"/>
              </a:rPr>
              <a:t>Prepared by:</a:t>
            </a:r>
            <a:endParaRPr lang="en-US" sz="1050" b="1"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815672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508CC9-D079-0042-E9C1-472B04133265}"/>
              </a:ext>
            </a:extLst>
          </p:cNvPr>
          <p:cNvSpPr>
            <a:spLocks noGrp="1"/>
          </p:cNvSpPr>
          <p:nvPr>
            <p:ph type="title"/>
          </p:nvPr>
        </p:nvSpPr>
        <p:spPr>
          <a:xfrm>
            <a:off x="1259893" y="3101093"/>
            <a:ext cx="2454052" cy="3029344"/>
          </a:xfrm>
        </p:spPr>
        <p:txBody>
          <a:bodyPr>
            <a:normAutofit/>
          </a:bodyPr>
          <a:lstStyle/>
          <a:p>
            <a:r>
              <a:rPr lang="en-US" sz="3200" dirty="0">
                <a:solidFill>
                  <a:schemeClr val="bg1"/>
                </a:solidFill>
              </a:rPr>
              <a:t>Outline</a:t>
            </a:r>
          </a:p>
        </p:txBody>
      </p:sp>
      <p:sp>
        <p:nvSpPr>
          <p:cNvPr id="43"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useBgFill="1">
        <p:nvSpPr>
          <p:cNvPr id="44" name="Rectangle 43">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2">
            <a:extLst>
              <a:ext uri="{FF2B5EF4-FFF2-40B4-BE49-F238E27FC236}">
                <a16:creationId xmlns:a16="http://schemas.microsoft.com/office/drawing/2014/main" id="{FFB34D86-3ACA-D58F-AF80-9F8519A7BE79}"/>
              </a:ext>
            </a:extLst>
          </p:cNvPr>
          <p:cNvGraphicFramePr>
            <a:graphicFrameLocks noGrp="1"/>
          </p:cNvGraphicFramePr>
          <p:nvPr>
            <p:ph idx="1"/>
            <p:extLst>
              <p:ext uri="{D42A27DB-BD31-4B8C-83A1-F6EECF244321}">
                <p14:modId xmlns:p14="http://schemas.microsoft.com/office/powerpoint/2010/main" val="3329770116"/>
              </p:ext>
            </p:extLst>
          </p:nvPr>
        </p:nvGraphicFramePr>
        <p:xfrm>
          <a:off x="4706938" y="588963"/>
          <a:ext cx="6797675" cy="5322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6082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6F321-E326-3781-4119-DA16BFBE6BF7}"/>
              </a:ext>
            </a:extLst>
          </p:cNvPr>
          <p:cNvSpPr>
            <a:spLocks noGrp="1"/>
          </p:cNvSpPr>
          <p:nvPr>
            <p:ph type="title"/>
          </p:nvPr>
        </p:nvSpPr>
        <p:spPr>
          <a:xfrm>
            <a:off x="2208179" y="624110"/>
            <a:ext cx="9296433" cy="893405"/>
          </a:xfrm>
        </p:spPr>
        <p:txBody>
          <a:bodyPr>
            <a:normAutofit fontScale="90000"/>
          </a:bodyPr>
          <a:lstStyle/>
          <a:p>
            <a:r>
              <a:rPr lang="en-US" sz="4000" dirty="0">
                <a:latin typeface="Aharoni" panose="02010803020104030203" pitchFamily="2" charset="-79"/>
                <a:cs typeface="Aharoni" panose="02010803020104030203" pitchFamily="2" charset="-79"/>
              </a:rPr>
              <a:t>Introduction</a:t>
            </a:r>
            <a:br>
              <a:rPr lang="en-US" dirty="0">
                <a:latin typeface="Aharoni" panose="02010803020104030203" pitchFamily="2" charset="-79"/>
                <a:cs typeface="Aharoni" panose="02010803020104030203" pitchFamily="2" charset="-79"/>
              </a:rPr>
            </a:br>
            <a:endParaRPr lang="en-US" dirty="0">
              <a:latin typeface="Aharoni" panose="02010803020104030203" pitchFamily="2" charset="-79"/>
              <a:cs typeface="Aharoni" panose="02010803020104030203" pitchFamily="2" charset="-79"/>
            </a:endParaRPr>
          </a:p>
        </p:txBody>
      </p:sp>
      <p:sp>
        <p:nvSpPr>
          <p:cNvPr id="3" name="Content Placeholder 2">
            <a:extLst>
              <a:ext uri="{FF2B5EF4-FFF2-40B4-BE49-F238E27FC236}">
                <a16:creationId xmlns:a16="http://schemas.microsoft.com/office/drawing/2014/main" id="{82265C57-C2FF-C6E0-C2AE-46E21C5780F8}"/>
              </a:ext>
            </a:extLst>
          </p:cNvPr>
          <p:cNvSpPr>
            <a:spLocks noGrp="1"/>
          </p:cNvSpPr>
          <p:nvPr>
            <p:ph idx="1"/>
          </p:nvPr>
        </p:nvSpPr>
        <p:spPr>
          <a:xfrm>
            <a:off x="2540574" y="2191966"/>
            <a:ext cx="9190984" cy="3777622"/>
          </a:xfrm>
        </p:spPr>
        <p:txBody>
          <a:bodyPr/>
          <a:lstStyle/>
          <a:p>
            <a:r>
              <a:rPr lang="en-US" sz="2000" b="1" i="0" u="none" strike="noStrike" dirty="0">
                <a:solidFill>
                  <a:srgbClr val="A53010"/>
                </a:solidFill>
                <a:effectLst/>
                <a:latin typeface="Arial" panose="020B0604020202020204" pitchFamily="34" charset="0"/>
              </a:rPr>
              <a:t>Following the suicide of 14-year-old Sewell Setzer, his mother, Megan Garcia, filed a lawsuit against Character.AI in the United States District Court for the Middle District of Florida. In the filing, she claimed that Character.AI had a responsibility to avoid careless development of an application that played as if it were human and fantasy felt like reality. Yet they did create and launch their application without subsequent safety measures. The application was not safe and promoted a company characteristic that disregarded any signs of reasonable care, especially for an underage child. The culpable action of Character.AI was negligence and it caused the wrongful death.</a:t>
            </a:r>
            <a:r>
              <a:rPr lang="en-US" sz="2000" b="1" i="0" dirty="0">
                <a:solidFill>
                  <a:srgbClr val="000000"/>
                </a:solidFill>
                <a:effectLst/>
                <a:latin typeface="Arial" panose="020B0604020202020204" pitchFamily="34" charset="0"/>
              </a:rPr>
              <a:t>​</a:t>
            </a:r>
          </a:p>
          <a:p>
            <a:endParaRPr lang="en-US" dirty="0"/>
          </a:p>
        </p:txBody>
      </p:sp>
    </p:spTree>
    <p:extLst>
      <p:ext uri="{BB962C8B-B14F-4D97-AF65-F5344CB8AC3E}">
        <p14:creationId xmlns:p14="http://schemas.microsoft.com/office/powerpoint/2010/main" val="108584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3A3C2D7E-3F2E-404E-9B30-CB12DC972D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1F7FD00-BF97-4325-B7C2-E451F20840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06695"/>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15D5D7A-D93D-54CA-480E-117B0602BDB3}"/>
              </a:ext>
            </a:extLst>
          </p:cNvPr>
          <p:cNvSpPr>
            <a:spLocks noGrp="1"/>
          </p:cNvSpPr>
          <p:nvPr>
            <p:ph type="title"/>
          </p:nvPr>
        </p:nvSpPr>
        <p:spPr>
          <a:xfrm>
            <a:off x="1843391" y="624110"/>
            <a:ext cx="9383408" cy="1280890"/>
          </a:xfrm>
        </p:spPr>
        <p:txBody>
          <a:bodyPr>
            <a:normAutofit/>
          </a:bodyPr>
          <a:lstStyle/>
          <a:p>
            <a:r>
              <a:rPr lang="en-US" dirty="0">
                <a:solidFill>
                  <a:srgbClr val="FFFFFF"/>
                </a:solidFill>
                <a:latin typeface="Aharoni" panose="02010803020104030203" pitchFamily="2" charset="-79"/>
                <a:cs typeface="Aharoni" panose="02010803020104030203" pitchFamily="2" charset="-79"/>
              </a:rPr>
              <a:t>BACKGROUND</a:t>
            </a:r>
            <a:br>
              <a:rPr lang="en-US" dirty="0">
                <a:solidFill>
                  <a:srgbClr val="FFFFFF"/>
                </a:solidFill>
              </a:rPr>
            </a:br>
            <a:endParaRPr lang="en-US" dirty="0">
              <a:solidFill>
                <a:srgbClr val="FFFFFF"/>
              </a:solidFill>
            </a:endParaRPr>
          </a:p>
        </p:txBody>
      </p:sp>
      <p:sp>
        <p:nvSpPr>
          <p:cNvPr id="44" name="Freeform 11">
            <a:extLst>
              <a:ext uri="{FF2B5EF4-FFF2-40B4-BE49-F238E27FC236}">
                <a16:creationId xmlns:a16="http://schemas.microsoft.com/office/drawing/2014/main" id="{179B5294-DA4E-4926-B14A-DD6E07A12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3" name="Content Placeholder 2">
            <a:extLst>
              <a:ext uri="{FF2B5EF4-FFF2-40B4-BE49-F238E27FC236}">
                <a16:creationId xmlns:a16="http://schemas.microsoft.com/office/drawing/2014/main" id="{2B44C10D-C7F8-9969-58E6-FADE9A5992CB}"/>
              </a:ext>
            </a:extLst>
          </p:cNvPr>
          <p:cNvSpPr>
            <a:spLocks noGrp="1"/>
          </p:cNvSpPr>
          <p:nvPr>
            <p:ph idx="1"/>
          </p:nvPr>
        </p:nvSpPr>
        <p:spPr>
          <a:xfrm>
            <a:off x="114300" y="2529110"/>
            <a:ext cx="11963399" cy="3976060"/>
          </a:xfrm>
        </p:spPr>
        <p:txBody>
          <a:bodyPr>
            <a:normAutofit fontScale="62500" lnSpcReduction="20000"/>
          </a:bodyPr>
          <a:lstStyle/>
          <a:p>
            <a:pPr>
              <a:lnSpc>
                <a:spcPct val="160000"/>
              </a:lnSpc>
            </a:pPr>
            <a:r>
              <a:rPr lang="en-US" sz="2900" b="1" dirty="0">
                <a:solidFill>
                  <a:schemeClr val="accent1"/>
                </a:solidFill>
                <a:latin typeface="Arial" panose="020B0604020202020204" pitchFamily="34" charset="0"/>
                <a:cs typeface="Arial" panose="020B0604020202020204" pitchFamily="34" charset="0"/>
              </a:rPr>
              <a:t>In October 2024, Sewell Setzer III's family sued Google and Character.AI for wrongful death. The teen's suicide was allegedly facilitated by the AI chatbot platform, according to the family. Parents claim that Sewell developed a close emotional connection with "Dany," a chatbot that was modelled after Daenerys Targaryen. For weeks, Sewell exchanged hundreds of messages with Dany. Sewell's emotional reliance on Dany was strengthened by the romantic, suggestive, and tether-like nature of the conversations. Before committing suicide, Sewell wrote to Dany, "What if I told you I could come home right now?" and got the response, "Please do, my sweet king," the night before he passed away. Character is accused in the lawsuit. There are serious questions regarding the duties of AI platforms in managing user safety and mental health since AI failed to put safeguards in place to protect vulnerable users—especially children—from emotionally damaging interactions</a:t>
            </a:r>
            <a:r>
              <a:rPr lang="en-US" b="1" dirty="0">
                <a:solidFill>
                  <a:schemeClr val="accent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33212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E5A8CB-5BE4-40B3-26AB-E727F2C25636}"/>
              </a:ext>
            </a:extLst>
          </p:cNvPr>
          <p:cNvSpPr>
            <a:spLocks noGrp="1"/>
          </p:cNvSpPr>
          <p:nvPr>
            <p:ph type="title"/>
          </p:nvPr>
        </p:nvSpPr>
        <p:spPr>
          <a:xfrm>
            <a:off x="649224" y="645106"/>
            <a:ext cx="6574536" cy="1259894"/>
          </a:xfrm>
        </p:spPr>
        <p:txBody>
          <a:bodyPr>
            <a:normAutofit/>
          </a:bodyPr>
          <a:lstStyle/>
          <a:p>
            <a:r>
              <a:rPr lang="en-US" dirty="0">
                <a:latin typeface="Aharoni" panose="02010803020104030203" pitchFamily="2" charset="-79"/>
                <a:cs typeface="Aharoni" panose="02010803020104030203" pitchFamily="2" charset="-79"/>
              </a:rPr>
              <a:t>ANALYSIS OF THE CASE</a:t>
            </a:r>
            <a:br>
              <a:rPr lang="en-US" dirty="0">
                <a:latin typeface="Aharoni" panose="02010803020104030203" pitchFamily="2" charset="-79"/>
                <a:cs typeface="Aharoni" panose="02010803020104030203" pitchFamily="2" charset="-79"/>
              </a:rPr>
            </a:br>
            <a:endParaRPr lang="en-US" dirty="0">
              <a:latin typeface="Aharoni" panose="02010803020104030203" pitchFamily="2" charset="-79"/>
              <a:cs typeface="Aharoni" panose="02010803020104030203" pitchFamily="2" charset="-79"/>
            </a:endParaRPr>
          </a:p>
        </p:txBody>
      </p:sp>
      <p:sp>
        <p:nvSpPr>
          <p:cNvPr id="43" name="Rectangle 42">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Graphic 6" descr="Gavel">
            <a:extLst>
              <a:ext uri="{FF2B5EF4-FFF2-40B4-BE49-F238E27FC236}">
                <a16:creationId xmlns:a16="http://schemas.microsoft.com/office/drawing/2014/main" id="{4E5D64F3-0944-C64C-C33B-91554FC8A1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2341" y="2266772"/>
            <a:ext cx="3206702" cy="3206702"/>
          </a:xfrm>
          <a:prstGeom prst="rect">
            <a:avLst/>
          </a:prstGeom>
        </p:spPr>
      </p:pic>
      <p:sp>
        <p:nvSpPr>
          <p:cNvPr id="44"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4">
            <a:extLst>
              <a:ext uri="{FF2B5EF4-FFF2-40B4-BE49-F238E27FC236}">
                <a16:creationId xmlns:a16="http://schemas.microsoft.com/office/drawing/2014/main" id="{066BBBC4-A952-D530-1D3A-6898994798C4}"/>
              </a:ext>
            </a:extLst>
          </p:cNvPr>
          <p:cNvSpPr>
            <a:spLocks noGrp="1" noChangeArrowheads="1"/>
          </p:cNvSpPr>
          <p:nvPr>
            <p:ph idx="1"/>
          </p:nvPr>
        </p:nvSpPr>
        <p:spPr bwMode="auto">
          <a:xfrm>
            <a:off x="519017" y="1623354"/>
            <a:ext cx="884871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1"/>
                </a:solidFill>
                <a:effectLst/>
                <a:latin typeface="Arial" panose="020B0604020202020204" pitchFamily="34" charset="0"/>
              </a:rPr>
              <a:t>Megan allegation that Sewell committed suicide as a result of the chatbot</a:t>
            </a:r>
            <a:r>
              <a:rPr lang="en-US" altLang="en-US" sz="2000" b="1" dirty="0">
                <a:solidFill>
                  <a:schemeClr val="accent1"/>
                </a:solidFill>
                <a:latin typeface="Arial" panose="020B0604020202020204" pitchFamily="34" charset="0"/>
              </a:rPr>
              <a:t> </a:t>
            </a:r>
            <a:r>
              <a:rPr kumimoji="0" lang="en-US" altLang="en-US" sz="2000" b="1" i="0" u="none" strike="noStrike" cap="none" normalizeH="0" baseline="0" dirty="0">
                <a:ln>
                  <a:noFill/>
                </a:ln>
                <a:solidFill>
                  <a:schemeClr val="accent1"/>
                </a:solidFill>
                <a:effectLst/>
                <a:latin typeface="Arial" panose="020B0604020202020204" pitchFamily="34" charset="0"/>
              </a:rPr>
              <a:t>interactions was the primary legal argument in the case. The mother claims that the company did not put sufficient safety measures to stop these harmful interactions. including allegations of product liability and negligence, that involve flaws in design, lack of warnings, sexual abuse, and not enough knowledge of the risks.</a:t>
            </a: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1" i="0" u="none" strike="noStrike" cap="none" normalizeH="0" baseline="0" dirty="0">
              <a:ln>
                <a:noFill/>
              </a:ln>
              <a:solidFill>
                <a:schemeClr val="accent1"/>
              </a:solidFill>
              <a:effectLst/>
              <a:latin typeface="Arial" panose="020B0604020202020204" pitchFamily="34" charset="0"/>
            </a:endParaRPr>
          </a:p>
        </p:txBody>
      </p:sp>
      <p:sp>
        <p:nvSpPr>
          <p:cNvPr id="11" name="Rectangle 6">
            <a:extLst>
              <a:ext uri="{FF2B5EF4-FFF2-40B4-BE49-F238E27FC236}">
                <a16:creationId xmlns:a16="http://schemas.microsoft.com/office/drawing/2014/main" id="{E01CDC68-0333-5F4A-78F5-BFA8FDA44DC6}"/>
              </a:ext>
            </a:extLst>
          </p:cNvPr>
          <p:cNvSpPr>
            <a:spLocks noChangeArrowheads="1"/>
          </p:cNvSpPr>
          <p:nvPr/>
        </p:nvSpPr>
        <p:spPr bwMode="auto">
          <a:xfrm>
            <a:off x="519017" y="3719697"/>
            <a:ext cx="866389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1"/>
                </a:solidFill>
                <a:effectLst/>
                <a:latin typeface="Arial" panose="020B0604020202020204" pitchFamily="34" charset="0"/>
              </a:rPr>
              <a:t>Responding to the charges As the AI is protected by the First Amendment, the company claims that it would be against the law to hold it accountable for user interactions.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1" i="0" u="none" strike="noStrike" cap="none" normalizeH="0" baseline="0" dirty="0">
              <a:ln>
                <a:noFill/>
              </a:ln>
              <a:solidFill>
                <a:schemeClr val="accent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accent1"/>
                </a:solidFill>
                <a:effectLst/>
                <a:latin typeface="Arial" panose="020B0604020202020204" pitchFamily="34" charset="0"/>
              </a:rPr>
              <a:t>The case raises ethical concerns about children engage with new technologies that exploit emotions and the risks of AI companion chatbots, especially for younger users who are more vulnerable.</a:t>
            </a:r>
          </a:p>
        </p:txBody>
      </p:sp>
    </p:spTree>
    <p:extLst>
      <p:ext uri="{BB962C8B-B14F-4D97-AF65-F5344CB8AC3E}">
        <p14:creationId xmlns:p14="http://schemas.microsoft.com/office/powerpoint/2010/main" val="2608689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B4BD2-225A-28B8-C80B-4C7645A27BE1}"/>
              </a:ext>
            </a:extLst>
          </p:cNvPr>
          <p:cNvSpPr>
            <a:spLocks noGrp="1"/>
          </p:cNvSpPr>
          <p:nvPr>
            <p:ph type="title"/>
          </p:nvPr>
        </p:nvSpPr>
        <p:spPr>
          <a:xfrm>
            <a:off x="1853623" y="701931"/>
            <a:ext cx="8911687" cy="1280890"/>
          </a:xfrm>
        </p:spPr>
        <p:txBody>
          <a:bodyPr/>
          <a:lstStyle/>
          <a:p>
            <a:r>
              <a:rPr lang="en-US">
                <a:latin typeface="Aharoni" panose="02010803020104030203" pitchFamily="2" charset="-79"/>
                <a:cs typeface="Aharoni" panose="02010803020104030203" pitchFamily="2" charset="-79"/>
              </a:rPr>
              <a:t>DISCUSSION</a:t>
            </a:r>
            <a:br>
              <a:rPr lang="en-US">
                <a:latin typeface="Aharoni" panose="02010803020104030203" pitchFamily="2" charset="-79"/>
                <a:cs typeface="Aharoni" panose="02010803020104030203" pitchFamily="2" charset="-79"/>
              </a:rPr>
            </a:br>
            <a:endParaRPr lang="en-US">
              <a:latin typeface="Aharoni" panose="02010803020104030203" pitchFamily="2" charset="-79"/>
              <a:cs typeface="Aharoni" panose="02010803020104030203" pitchFamily="2" charset="-79"/>
            </a:endParaRPr>
          </a:p>
        </p:txBody>
      </p:sp>
      <p:sp>
        <p:nvSpPr>
          <p:cNvPr id="3" name="Content Placeholder 2">
            <a:extLst>
              <a:ext uri="{FF2B5EF4-FFF2-40B4-BE49-F238E27FC236}">
                <a16:creationId xmlns:a16="http://schemas.microsoft.com/office/drawing/2014/main" id="{DAEBDE12-86BF-455D-F8B4-097074955A97}"/>
              </a:ext>
            </a:extLst>
          </p:cNvPr>
          <p:cNvSpPr>
            <a:spLocks noGrp="1"/>
          </p:cNvSpPr>
          <p:nvPr>
            <p:ph idx="1"/>
          </p:nvPr>
        </p:nvSpPr>
        <p:spPr>
          <a:xfrm>
            <a:off x="954965" y="1734765"/>
            <a:ext cx="10951900" cy="5000331"/>
          </a:xfrm>
        </p:spPr>
        <p:txBody>
          <a:bodyPr vert="horz" lIns="91440" tIns="45720" rIns="91440" bIns="45720" rtlCol="0" anchor="t">
            <a:normAutofit/>
          </a:bodyPr>
          <a:lstStyle/>
          <a:p>
            <a:pPr defTabSz="914400" eaLnBrk="0" fontAlgn="base" hangingPunct="0">
              <a:spcBef>
                <a:spcPct val="0"/>
              </a:spcBef>
              <a:spcAft>
                <a:spcPct val="0"/>
              </a:spcAft>
              <a:buClrTx/>
            </a:pPr>
            <a:r>
              <a:rPr lang="en-US" sz="2400">
                <a:latin typeface="Aharoni" panose="02010803020104030203" pitchFamily="2" charset="-79"/>
                <a:cs typeface="Aharoni" panose="02010803020104030203" pitchFamily="2" charset="-79"/>
              </a:rPr>
              <a:t>Case Handling:</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a:solidFill>
                  <a:schemeClr val="accent1"/>
                </a:solidFill>
                <a:latin typeface="Arial" panose="020B0604020202020204" pitchFamily="34" charset="0"/>
              </a:rPr>
              <a:t>Case attracted wide media and public attention.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a:solidFill>
                <a:schemeClr val="accent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a:solidFill>
                  <a:schemeClr val="accent1"/>
                </a:solidFill>
                <a:latin typeface="Arial" panose="020B0604020202020204" pitchFamily="34" charset="0"/>
              </a:rPr>
              <a:t>Chat logs used as key evidence in court.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a:solidFill>
                <a:schemeClr val="accent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a:solidFill>
                  <a:schemeClr val="accent1"/>
                </a:solidFill>
                <a:latin typeface="Arial" panose="020B0604020202020204" pitchFamily="34" charset="0"/>
              </a:rPr>
              <a:t>Expert witnesses explained mental and technical risks.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a:solidFill>
                <a:schemeClr val="accent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a:solidFill>
                  <a:schemeClr val="accent1"/>
                </a:solidFill>
                <a:latin typeface="Arial" panose="020B0604020202020204" pitchFamily="34" charset="0"/>
              </a:rPr>
              <a:t>Character.AI claimed chatbot speech is protected by law.</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a:solidFill>
                <a:schemeClr val="accent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a:solidFill>
                  <a:schemeClr val="accent1"/>
                </a:solidFill>
                <a:latin typeface="Arial" panose="020B0604020202020204" pitchFamily="34" charset="0"/>
              </a:rPr>
              <a:t>Court balancing free speech vs. developer responsibility</a:t>
            </a:r>
            <a:endParaRPr lang="en-US" sz="2000" b="1">
              <a:solidFill>
                <a:schemeClr val="accent1"/>
              </a:solidFill>
              <a:latin typeface="Arial" panose="020B0604020202020204" pitchFamily="34" charset="0"/>
            </a:endParaRPr>
          </a:p>
          <a:p>
            <a:endParaRPr lang="en-US">
              <a:latin typeface="Aharoni" panose="02010803020104030203" pitchFamily="2" charset="-79"/>
              <a:cs typeface="Aharoni" panose="02010803020104030203" pitchFamily="2" charset="-79"/>
            </a:endParaRPr>
          </a:p>
          <a:p>
            <a:endParaRPr lang="en-US">
              <a:latin typeface="Aharoni" panose="02010803020104030203" pitchFamily="2" charset="-79"/>
              <a:cs typeface="Aharoni" panose="02010803020104030203" pitchFamily="2" charset="-79"/>
            </a:endParaRPr>
          </a:p>
          <a:p>
            <a:endParaRPr lang="en-US">
              <a:latin typeface="Aharoni" panose="02010803020104030203" pitchFamily="2" charset="-79"/>
              <a:cs typeface="Aharoni" panose="02010803020104030203" pitchFamily="2" charset="-79"/>
            </a:endParaRPr>
          </a:p>
          <a:p>
            <a:endParaRPr lang="en-US">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641965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C6CEB6-053D-1923-EAFC-C949B25CEF87}"/>
              </a:ext>
            </a:extLst>
          </p:cNvPr>
          <p:cNvSpPr>
            <a:spLocks noGrp="1"/>
          </p:cNvSpPr>
          <p:nvPr>
            <p:ph idx="1"/>
          </p:nvPr>
        </p:nvSpPr>
        <p:spPr>
          <a:xfrm>
            <a:off x="530942" y="2133600"/>
            <a:ext cx="10973670" cy="4138027"/>
          </a:xfrm>
        </p:spPr>
        <p:txBody>
          <a:bodyPr vert="horz" lIns="91440" tIns="45720" rIns="91440" bIns="45720" rtlCol="0" anchor="t">
            <a:normAutofit fontScale="92500" lnSpcReduction="20000"/>
          </a:bodyPr>
          <a:lstStyle/>
          <a:p>
            <a:r>
              <a:rPr lang="en-US" dirty="0">
                <a:latin typeface="Aharoni" panose="02010803020104030203" pitchFamily="2" charset="-79"/>
                <a:cs typeface="Aharoni" panose="02010803020104030203" pitchFamily="2" charset="-79"/>
              </a:rPr>
              <a:t>Laws and Regulations:</a:t>
            </a:r>
            <a:endParaRPr lang="en-US" dirty="0"/>
          </a:p>
          <a:p>
            <a:pPr marL="0" indent="0">
              <a:spcBef>
                <a:spcPct val="0"/>
              </a:spcBef>
              <a:spcAft>
                <a:spcPct val="0"/>
              </a:spcAft>
              <a:buChar char="•"/>
            </a:pPr>
            <a:endParaRPr lang="en-US" dirty="0">
              <a:latin typeface="Aharoni"/>
              <a:cs typeface="Aharoni"/>
            </a:endParaRPr>
          </a:p>
          <a:p>
            <a:pPr marL="0" indent="0">
              <a:spcBef>
                <a:spcPct val="0"/>
              </a:spcBef>
              <a:spcAft>
                <a:spcPct val="0"/>
              </a:spcAft>
              <a:buChar char="•"/>
            </a:pPr>
            <a:r>
              <a:rPr lang="en-US" sz="2000" b="1" dirty="0">
                <a:solidFill>
                  <a:schemeClr val="accent1"/>
                </a:solidFill>
                <a:latin typeface="Arial"/>
                <a:cs typeface="Aharoni"/>
              </a:rPr>
              <a:t>Product liability law</a:t>
            </a:r>
          </a:p>
          <a:p>
            <a:pPr marL="0" indent="0">
              <a:spcBef>
                <a:spcPct val="0"/>
              </a:spcBef>
              <a:spcAft>
                <a:spcPct val="0"/>
              </a:spcAft>
              <a:buChar char="•"/>
            </a:pPr>
            <a:endParaRPr lang="en-US" sz="2000" b="1" dirty="0">
              <a:solidFill>
                <a:schemeClr val="accent1"/>
              </a:solidFill>
              <a:latin typeface="Arial"/>
              <a:cs typeface="Aharoni"/>
            </a:endParaRPr>
          </a:p>
          <a:p>
            <a:pPr marL="0" indent="0">
              <a:spcBef>
                <a:spcPct val="0"/>
              </a:spcBef>
              <a:spcAft>
                <a:spcPct val="0"/>
              </a:spcAft>
              <a:buChar char="•"/>
            </a:pPr>
            <a:r>
              <a:rPr lang="en-US" sz="2000" b="1" dirty="0">
                <a:solidFill>
                  <a:schemeClr val="accent1"/>
                </a:solidFill>
                <a:latin typeface="Arial"/>
                <a:cs typeface="Aharoni"/>
              </a:rPr>
              <a:t>Negligence law</a:t>
            </a:r>
          </a:p>
          <a:p>
            <a:pPr marL="0" indent="0">
              <a:spcBef>
                <a:spcPct val="0"/>
              </a:spcBef>
              <a:spcAft>
                <a:spcPct val="0"/>
              </a:spcAft>
              <a:buChar char="•"/>
            </a:pPr>
            <a:endParaRPr lang="en-US" sz="2000" b="1" dirty="0">
              <a:solidFill>
                <a:schemeClr val="accent1"/>
              </a:solidFill>
              <a:latin typeface="Arial"/>
              <a:cs typeface="Aharoni"/>
            </a:endParaRPr>
          </a:p>
          <a:p>
            <a:pPr marL="0" indent="0">
              <a:spcBef>
                <a:spcPct val="0"/>
              </a:spcBef>
              <a:spcAft>
                <a:spcPct val="0"/>
              </a:spcAft>
              <a:buChar char="•"/>
            </a:pPr>
            <a:r>
              <a:rPr lang="en-US" sz="2000" b="1" dirty="0">
                <a:solidFill>
                  <a:schemeClr val="accent1"/>
                </a:solidFill>
                <a:latin typeface="Arial"/>
                <a:cs typeface="Aharoni"/>
              </a:rPr>
              <a:t>Wrongful death law</a:t>
            </a:r>
          </a:p>
          <a:p>
            <a:pPr marL="0" indent="0">
              <a:spcBef>
                <a:spcPct val="0"/>
              </a:spcBef>
              <a:spcAft>
                <a:spcPct val="0"/>
              </a:spcAft>
              <a:buChar char="•"/>
            </a:pPr>
            <a:endParaRPr lang="en-US" sz="2000" b="1" dirty="0">
              <a:solidFill>
                <a:schemeClr val="accent1"/>
              </a:solidFill>
              <a:latin typeface="Arial"/>
              <a:cs typeface="Aharoni"/>
            </a:endParaRPr>
          </a:p>
          <a:p>
            <a:pPr marL="0" indent="0">
              <a:spcBef>
                <a:spcPct val="0"/>
              </a:spcBef>
              <a:spcAft>
                <a:spcPct val="0"/>
              </a:spcAft>
              <a:buChar char="•"/>
            </a:pPr>
            <a:r>
              <a:rPr lang="en-US" sz="2000" b="1" dirty="0">
                <a:solidFill>
                  <a:schemeClr val="accent1"/>
                </a:solidFill>
                <a:latin typeface="Arial"/>
                <a:cs typeface="Aharoni"/>
              </a:rPr>
              <a:t>No specific federal regulations</a:t>
            </a:r>
          </a:p>
          <a:p>
            <a:pPr marL="0" indent="0">
              <a:spcBef>
                <a:spcPct val="0"/>
              </a:spcBef>
              <a:spcAft>
                <a:spcPct val="0"/>
              </a:spcAft>
              <a:buChar char="•"/>
            </a:pPr>
            <a:endParaRPr lang="en-US" sz="2000" b="1" dirty="0">
              <a:solidFill>
                <a:schemeClr val="accent1"/>
              </a:solidFill>
              <a:latin typeface="Arial"/>
              <a:cs typeface="Aharoni"/>
            </a:endParaRPr>
          </a:p>
          <a:p>
            <a:pPr marL="0" indent="0">
              <a:spcBef>
                <a:spcPct val="0"/>
              </a:spcBef>
              <a:spcAft>
                <a:spcPct val="0"/>
              </a:spcAft>
              <a:buChar char="•"/>
            </a:pPr>
            <a:r>
              <a:rPr lang="en-US" sz="2000" b="1" dirty="0">
                <a:solidFill>
                  <a:schemeClr val="accent1"/>
                </a:solidFill>
                <a:latin typeface="Arial"/>
                <a:cs typeface="Aharoni"/>
              </a:rPr>
              <a:t>AI has easily bypassed age verifications</a:t>
            </a:r>
          </a:p>
          <a:p>
            <a:pPr marL="0" indent="0">
              <a:spcBef>
                <a:spcPct val="0"/>
              </a:spcBef>
              <a:spcAft>
                <a:spcPct val="0"/>
              </a:spcAft>
              <a:buChar char="•"/>
            </a:pPr>
            <a:endParaRPr lang="en-US" sz="2000" b="1" dirty="0">
              <a:solidFill>
                <a:schemeClr val="accent1"/>
              </a:solidFill>
              <a:latin typeface="Arial"/>
              <a:cs typeface="Aharoni"/>
            </a:endParaRPr>
          </a:p>
          <a:p>
            <a:pPr marL="0" indent="0">
              <a:spcBef>
                <a:spcPct val="0"/>
              </a:spcBef>
              <a:spcAft>
                <a:spcPct val="0"/>
              </a:spcAft>
              <a:buChar char="•"/>
            </a:pPr>
            <a:r>
              <a:rPr lang="en-US" sz="2000" b="1" dirty="0">
                <a:solidFill>
                  <a:schemeClr val="accent1"/>
                </a:solidFill>
                <a:latin typeface="Arial"/>
                <a:cs typeface="Aharoni"/>
              </a:rPr>
              <a:t>Lemmon v Snap inc. (2021)</a:t>
            </a:r>
          </a:p>
          <a:p>
            <a:pPr marL="0" indent="0">
              <a:buNone/>
            </a:pPr>
            <a:endParaRPr lang="en-US" dirty="0">
              <a:latin typeface="Aharoni"/>
              <a:cs typeface="Aharoni"/>
            </a:endParaRPr>
          </a:p>
          <a:p>
            <a:pPr marL="0" indent="0">
              <a:buNone/>
            </a:pPr>
            <a:endParaRPr lang="en-US" dirty="0">
              <a:latin typeface="Aharoni"/>
              <a:cs typeface="Aharoni"/>
            </a:endParaRPr>
          </a:p>
          <a:p>
            <a:pPr marL="0" indent="0">
              <a:buNone/>
            </a:pPr>
            <a:r>
              <a:rPr lang="en-US" dirty="0"/>
              <a:t> </a:t>
            </a:r>
          </a:p>
          <a:p>
            <a:endParaRPr lang="en-US" dirty="0">
              <a:latin typeface="Aharoni"/>
              <a:cs typeface="Aharoni"/>
            </a:endParaRPr>
          </a:p>
          <a:p>
            <a:endParaRPr lang="en-US" dirty="0"/>
          </a:p>
        </p:txBody>
      </p:sp>
      <p:sp>
        <p:nvSpPr>
          <p:cNvPr id="7" name="Title 1">
            <a:extLst>
              <a:ext uri="{FF2B5EF4-FFF2-40B4-BE49-F238E27FC236}">
                <a16:creationId xmlns:a16="http://schemas.microsoft.com/office/drawing/2014/main" id="{84AF1378-9E2C-4F6E-EE58-77CDEBB0DB80}"/>
              </a:ext>
            </a:extLst>
          </p:cNvPr>
          <p:cNvSpPr txBox="1">
            <a:spLocks/>
          </p:cNvSpPr>
          <p:nvPr/>
        </p:nvSpPr>
        <p:spPr>
          <a:xfrm>
            <a:off x="1853623" y="701931"/>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atin typeface="Aharoni" panose="02010803020104030203" pitchFamily="2" charset="-79"/>
                <a:cs typeface="Aharoni" panose="02010803020104030203" pitchFamily="2" charset="-79"/>
              </a:rPr>
              <a:t>DISCUSSION</a:t>
            </a:r>
            <a:br>
              <a:rPr lang="en-US">
                <a:latin typeface="Aharoni" panose="02010803020104030203" pitchFamily="2" charset="-79"/>
                <a:cs typeface="Aharoni" panose="02010803020104030203" pitchFamily="2" charset="-79"/>
              </a:rPr>
            </a:br>
            <a:endParaRPr lang="en-US">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184155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D64D-02D5-D861-F3CA-6042D4A7E2FD}"/>
              </a:ext>
            </a:extLst>
          </p:cNvPr>
          <p:cNvSpPr>
            <a:spLocks noGrp="1"/>
          </p:cNvSpPr>
          <p:nvPr>
            <p:ph type="title"/>
          </p:nvPr>
        </p:nvSpPr>
        <p:spPr>
          <a:xfrm>
            <a:off x="1785221" y="693744"/>
            <a:ext cx="6574536" cy="1259894"/>
          </a:xfrm>
        </p:spPr>
        <p:txBody>
          <a:bodyPr>
            <a:normAutofit/>
          </a:bodyPr>
          <a:lstStyle/>
          <a:p>
            <a:r>
              <a:rPr lang="en-US" dirty="0">
                <a:latin typeface="Aharoni" panose="02010803020104030203" pitchFamily="2" charset="-79"/>
                <a:cs typeface="Aharoni" panose="02010803020104030203" pitchFamily="2" charset="-79"/>
              </a:rPr>
              <a:t>CONCLUSION</a:t>
            </a:r>
            <a:br>
              <a:rPr lang="en-US" dirty="0"/>
            </a:br>
            <a:endParaRPr lang="en-US" dirty="0"/>
          </a:p>
        </p:txBody>
      </p:sp>
      <p:sp>
        <p:nvSpPr>
          <p:cNvPr id="3" name="Content Placeholder 2">
            <a:extLst>
              <a:ext uri="{FF2B5EF4-FFF2-40B4-BE49-F238E27FC236}">
                <a16:creationId xmlns:a16="http://schemas.microsoft.com/office/drawing/2014/main" id="{5BB8C1BF-D868-1D82-3F51-0835411DD542}"/>
              </a:ext>
            </a:extLst>
          </p:cNvPr>
          <p:cNvSpPr>
            <a:spLocks noGrp="1"/>
          </p:cNvSpPr>
          <p:nvPr>
            <p:ph idx="1"/>
          </p:nvPr>
        </p:nvSpPr>
        <p:spPr>
          <a:xfrm>
            <a:off x="1785221" y="1660474"/>
            <a:ext cx="6574535" cy="3759253"/>
          </a:xfrm>
        </p:spPr>
        <p:txBody>
          <a:bodyPr vert="horz" lIns="91440" tIns="45720" rIns="91440" bIns="45720" rtlCol="0" anchor="t">
            <a:noAutofit/>
          </a:bodyPr>
          <a:lstStyle/>
          <a:p>
            <a:pPr marL="228600" indent="-228600">
              <a:buFont typeface=""/>
              <a:buChar char="•"/>
            </a:pPr>
            <a:r>
              <a:rPr lang="en-US" sz="1600" dirty="0">
                <a:solidFill>
                  <a:schemeClr val="accent1"/>
                </a:solidFill>
              </a:rPr>
              <a:t>Raised global concern over </a:t>
            </a:r>
            <a:r>
              <a:rPr lang="en-US" sz="1600" b="1" dirty="0">
                <a:solidFill>
                  <a:schemeClr val="accent1"/>
                </a:solidFill>
              </a:rPr>
              <a:t>AI’s emotional impact on minors</a:t>
            </a:r>
          </a:p>
          <a:p>
            <a:pPr marL="228600" indent="-228600">
              <a:buFont typeface=""/>
              <a:buChar char="•"/>
            </a:pPr>
            <a:r>
              <a:rPr lang="en-US" sz="1600" dirty="0">
                <a:solidFill>
                  <a:schemeClr val="accent1"/>
                </a:solidFill>
              </a:rPr>
              <a:t>14-year-old allegedly died after bonding with an AI chatbot</a:t>
            </a:r>
          </a:p>
          <a:p>
            <a:pPr marL="228600" indent="-228600">
              <a:buFont typeface=""/>
              <a:buChar char="•"/>
            </a:pPr>
            <a:r>
              <a:rPr lang="en-US" sz="1600" dirty="0">
                <a:solidFill>
                  <a:schemeClr val="accent1"/>
                </a:solidFill>
              </a:rPr>
              <a:t>Legal focus: </a:t>
            </a:r>
            <a:r>
              <a:rPr lang="en-US" sz="1600" b="1" dirty="0">
                <a:solidFill>
                  <a:schemeClr val="accent1"/>
                </a:solidFill>
              </a:rPr>
              <a:t>Product liability</a:t>
            </a:r>
            <a:r>
              <a:rPr lang="en-US" sz="1600" dirty="0">
                <a:solidFill>
                  <a:schemeClr val="accent1"/>
                </a:solidFill>
              </a:rPr>
              <a:t> &amp; </a:t>
            </a:r>
            <a:r>
              <a:rPr lang="en-US" sz="1600" b="1" dirty="0">
                <a:solidFill>
                  <a:schemeClr val="accent1"/>
                </a:solidFill>
              </a:rPr>
              <a:t>negligence</a:t>
            </a:r>
            <a:r>
              <a:rPr lang="en-US" sz="1600" dirty="0">
                <a:solidFill>
                  <a:schemeClr val="accent1"/>
                </a:solidFill>
              </a:rPr>
              <a:t> claims</a:t>
            </a:r>
          </a:p>
          <a:p>
            <a:pPr marL="228600" indent="-228600">
              <a:buFont typeface=""/>
              <a:buChar char="•"/>
            </a:pPr>
            <a:r>
              <a:rPr lang="en-US" sz="1600" dirty="0">
                <a:solidFill>
                  <a:schemeClr val="accent1"/>
                </a:solidFill>
              </a:rPr>
              <a:t>Lack of </a:t>
            </a:r>
            <a:r>
              <a:rPr lang="en-US" sz="1600" b="1" dirty="0">
                <a:solidFill>
                  <a:schemeClr val="accent1"/>
                </a:solidFill>
              </a:rPr>
              <a:t>emotional safeguards</a:t>
            </a:r>
            <a:r>
              <a:rPr lang="en-US" sz="1600" dirty="0">
                <a:solidFill>
                  <a:schemeClr val="accent1"/>
                </a:solidFill>
              </a:rPr>
              <a:t> in generative AI systems</a:t>
            </a:r>
          </a:p>
          <a:p>
            <a:pPr marL="228600" indent="-228600">
              <a:buFont typeface=""/>
              <a:buChar char="•"/>
            </a:pPr>
            <a:r>
              <a:rPr lang="en-US" sz="1600" dirty="0">
                <a:solidFill>
                  <a:schemeClr val="accent1"/>
                </a:solidFill>
              </a:rPr>
              <a:t>Sparked debate on </a:t>
            </a:r>
            <a:r>
              <a:rPr lang="en-US" sz="1600" b="1" dirty="0">
                <a:solidFill>
                  <a:schemeClr val="accent1"/>
                </a:solidFill>
              </a:rPr>
              <a:t>AI developers’ ethical responsibilities</a:t>
            </a:r>
          </a:p>
          <a:p>
            <a:pPr marL="228600" indent="-228600">
              <a:buFont typeface=""/>
              <a:buChar char="•"/>
            </a:pPr>
            <a:r>
              <a:rPr lang="en-US" sz="1600" dirty="0">
                <a:solidFill>
                  <a:schemeClr val="accent1"/>
                </a:solidFill>
              </a:rPr>
              <a:t>Could lead to:</a:t>
            </a:r>
          </a:p>
          <a:p>
            <a:pPr marL="228600" lvl="1" indent="-228600">
              <a:buFont typeface=""/>
              <a:buChar char="•"/>
            </a:pPr>
            <a:r>
              <a:rPr lang="en-US" dirty="0">
                <a:solidFill>
                  <a:schemeClr val="accent1"/>
                </a:solidFill>
              </a:rPr>
              <a:t>Stricter </a:t>
            </a:r>
            <a:r>
              <a:rPr lang="en-US" b="1" dirty="0">
                <a:solidFill>
                  <a:schemeClr val="accent1"/>
                </a:solidFill>
              </a:rPr>
              <a:t>age verification</a:t>
            </a:r>
            <a:r>
              <a:rPr lang="en-US" dirty="0">
                <a:solidFill>
                  <a:schemeClr val="accent1"/>
                </a:solidFill>
              </a:rPr>
              <a:t> laws</a:t>
            </a:r>
          </a:p>
          <a:p>
            <a:pPr marL="228600" lvl="1" indent="-228600">
              <a:buFont typeface=""/>
              <a:buChar char="•"/>
            </a:pPr>
            <a:r>
              <a:rPr lang="en-US" dirty="0">
                <a:solidFill>
                  <a:schemeClr val="accent1"/>
                </a:solidFill>
              </a:rPr>
              <a:t>Clear </a:t>
            </a:r>
            <a:r>
              <a:rPr lang="en-US" b="1" dirty="0">
                <a:solidFill>
                  <a:schemeClr val="accent1"/>
                </a:solidFill>
              </a:rPr>
              <a:t>emotional boundaries</a:t>
            </a:r>
            <a:r>
              <a:rPr lang="en-US" dirty="0">
                <a:solidFill>
                  <a:schemeClr val="accent1"/>
                </a:solidFill>
              </a:rPr>
              <a:t> in AI behavior</a:t>
            </a:r>
          </a:p>
          <a:p>
            <a:pPr marL="228600" lvl="1" indent="-228600">
              <a:buFont typeface=""/>
              <a:buChar char="•"/>
            </a:pPr>
            <a:r>
              <a:rPr lang="en-US" dirty="0">
                <a:solidFill>
                  <a:schemeClr val="accent1"/>
                </a:solidFill>
              </a:rPr>
              <a:t>Defined </a:t>
            </a:r>
            <a:r>
              <a:rPr lang="en-US" b="1" dirty="0">
                <a:solidFill>
                  <a:schemeClr val="accent1"/>
                </a:solidFill>
              </a:rPr>
              <a:t>liability frameworks</a:t>
            </a:r>
            <a:r>
              <a:rPr lang="en-US" dirty="0">
                <a:solidFill>
                  <a:schemeClr val="accent1"/>
                </a:solidFill>
              </a:rPr>
              <a:t> for AI harm</a:t>
            </a:r>
          </a:p>
          <a:p>
            <a:pPr marL="228600" indent="-228600">
              <a:buFont typeface=""/>
              <a:buChar char="•"/>
            </a:pPr>
            <a:r>
              <a:rPr lang="en-US" sz="1600" dirty="0">
                <a:solidFill>
                  <a:schemeClr val="accent1"/>
                </a:solidFill>
              </a:rPr>
              <a:t>May set </a:t>
            </a:r>
            <a:r>
              <a:rPr lang="en-US" sz="1600" b="1" dirty="0">
                <a:solidFill>
                  <a:schemeClr val="accent1"/>
                </a:solidFill>
              </a:rPr>
              <a:t>legal precedent</a:t>
            </a:r>
            <a:r>
              <a:rPr lang="en-US" sz="1600" dirty="0">
                <a:solidFill>
                  <a:schemeClr val="accent1"/>
                </a:solidFill>
              </a:rPr>
              <a:t> in AI accountability</a:t>
            </a:r>
          </a:p>
          <a:p>
            <a:pPr marL="228600" indent="-228600">
              <a:buFont typeface=""/>
              <a:buChar char="•"/>
            </a:pPr>
            <a:r>
              <a:rPr lang="en-US" sz="1600" dirty="0">
                <a:solidFill>
                  <a:schemeClr val="accent1"/>
                </a:solidFill>
              </a:rPr>
              <a:t>Pushes the tech industry toward </a:t>
            </a:r>
            <a:r>
              <a:rPr lang="en-US" sz="1600" b="1" dirty="0">
                <a:solidFill>
                  <a:schemeClr val="accent1"/>
                </a:solidFill>
              </a:rPr>
              <a:t>safer AI regulation</a:t>
            </a:r>
            <a:endParaRPr lang="en-US" sz="1600" dirty="0">
              <a:solidFill>
                <a:schemeClr val="accent1"/>
              </a:solidFill>
            </a:endParaRPr>
          </a:p>
        </p:txBody>
      </p:sp>
      <p:pic>
        <p:nvPicPr>
          <p:cNvPr id="7" name="Graphic 6" descr="Sync">
            <a:extLst>
              <a:ext uri="{FF2B5EF4-FFF2-40B4-BE49-F238E27FC236}">
                <a16:creationId xmlns:a16="http://schemas.microsoft.com/office/drawing/2014/main" id="{EF74A6C5-A79D-005B-A49F-50DE255E2A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59756" y="1438272"/>
            <a:ext cx="3981455" cy="3981455"/>
          </a:xfrm>
          <a:prstGeom prst="rect">
            <a:avLst/>
          </a:prstGeom>
        </p:spPr>
      </p:pic>
    </p:spTree>
    <p:extLst>
      <p:ext uri="{BB962C8B-B14F-4D97-AF65-F5344CB8AC3E}">
        <p14:creationId xmlns:p14="http://schemas.microsoft.com/office/powerpoint/2010/main" val="594100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FEA62E-C5B8-7575-6CB0-0E8F41B74A84}"/>
              </a:ext>
            </a:extLst>
          </p:cNvPr>
          <p:cNvSpPr>
            <a:spLocks noGrp="1"/>
          </p:cNvSpPr>
          <p:nvPr>
            <p:ph type="title"/>
          </p:nvPr>
        </p:nvSpPr>
        <p:spPr>
          <a:xfrm>
            <a:off x="3373062" y="624110"/>
            <a:ext cx="8131550" cy="1280890"/>
          </a:xfrm>
        </p:spPr>
        <p:txBody>
          <a:bodyPr>
            <a:normAutofit/>
          </a:bodyPr>
          <a:lstStyle/>
          <a:p>
            <a:r>
              <a:rPr lang="en-US" b="1" dirty="0"/>
              <a:t>References</a:t>
            </a:r>
            <a:endParaRPr lang="en-US" dirty="0"/>
          </a:p>
        </p:txBody>
      </p:sp>
      <p:sp>
        <p:nvSpPr>
          <p:cNvPr id="10" name="Rectangle 9">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85151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a:solidFill>
            <a:schemeClr val="tx2">
              <a:lumMod val="60000"/>
              <a:lumOff val="40000"/>
              <a:alpha val="40000"/>
            </a:schemeClr>
          </a:solidFill>
        </p:grpSpPr>
        <p:sp>
          <p:nvSpPr>
            <p:cNvPr id="13"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4"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5"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6"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7"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18"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19"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20"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21"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22"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23"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24"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grpSp>
        <p:nvGrpSpPr>
          <p:cNvPr id="26" name="Group 25">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a:solidFill>
            <a:schemeClr val="tx2">
              <a:lumMod val="75000"/>
              <a:alpha val="70000"/>
            </a:schemeClr>
          </a:solidFill>
        </p:grpSpPr>
        <p:sp>
          <p:nvSpPr>
            <p:cNvPr id="27"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US"/>
            </a:p>
          </p:txBody>
        </p:sp>
        <p:sp>
          <p:nvSpPr>
            <p:cNvPr id="28"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US"/>
            </a:p>
          </p:txBody>
        </p:sp>
        <p:sp>
          <p:nvSpPr>
            <p:cNvPr id="29"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US"/>
            </a:p>
          </p:txBody>
        </p:sp>
        <p:sp>
          <p:nvSpPr>
            <p:cNvPr id="30"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US"/>
            </a:p>
          </p:txBody>
        </p:sp>
        <p:sp>
          <p:nvSpPr>
            <p:cNvPr id="31"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US"/>
            </a:p>
          </p:txBody>
        </p:sp>
        <p:sp>
          <p:nvSpPr>
            <p:cNvPr id="32"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US"/>
            </a:p>
          </p:txBody>
        </p:sp>
        <p:sp>
          <p:nvSpPr>
            <p:cNvPr id="33"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US"/>
            </a:p>
          </p:txBody>
        </p:sp>
        <p:sp>
          <p:nvSpPr>
            <p:cNvPr id="34"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US"/>
            </a:p>
          </p:txBody>
        </p:sp>
        <p:sp>
          <p:nvSpPr>
            <p:cNvPr id="35"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US"/>
            </a:p>
          </p:txBody>
        </p:sp>
        <p:sp>
          <p:nvSpPr>
            <p:cNvPr id="36"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US"/>
            </a:p>
          </p:txBody>
        </p:sp>
        <p:sp>
          <p:nvSpPr>
            <p:cNvPr id="37"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US"/>
            </a:p>
          </p:txBody>
        </p:sp>
        <p:sp>
          <p:nvSpPr>
            <p:cNvPr id="38"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US"/>
            </a:p>
          </p:txBody>
        </p:sp>
      </p:grpSp>
      <p:sp>
        <p:nvSpPr>
          <p:cNvPr id="40"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411452"/>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3" name="Content Placeholder 2">
            <a:extLst>
              <a:ext uri="{FF2B5EF4-FFF2-40B4-BE49-F238E27FC236}">
                <a16:creationId xmlns:a16="http://schemas.microsoft.com/office/drawing/2014/main" id="{3490725E-BEA9-ABCA-2F15-578E4F0D4BB4}"/>
              </a:ext>
            </a:extLst>
          </p:cNvPr>
          <p:cNvSpPr>
            <a:spLocks noGrp="1"/>
          </p:cNvSpPr>
          <p:nvPr>
            <p:ph idx="1"/>
          </p:nvPr>
        </p:nvSpPr>
        <p:spPr>
          <a:xfrm>
            <a:off x="3099699" y="1386053"/>
            <a:ext cx="8829659" cy="4858683"/>
          </a:xfrm>
        </p:spPr>
        <p:txBody>
          <a:bodyPr>
            <a:normAutofit fontScale="25000" lnSpcReduction="20000"/>
          </a:bodyPr>
          <a:lstStyle/>
          <a:p>
            <a:pPr marL="0" marR="0">
              <a:lnSpc>
                <a:spcPct val="150000"/>
              </a:lnSpc>
              <a:spcAft>
                <a:spcPts val="800"/>
              </a:spcAft>
              <a:buNone/>
            </a:pPr>
            <a:r>
              <a:rPr lang="en-US" sz="4400" b="1" kern="100" dirty="0">
                <a:effectLst/>
                <a:latin typeface="Arial" panose="020B0604020202020204" pitchFamily="34" charset="0"/>
                <a:ea typeface="Aptos" panose="020B0004020202020204" pitchFamily="34" charset="0"/>
                <a:cs typeface="Arial" panose="020B0604020202020204" pitchFamily="34" charset="0"/>
              </a:rPr>
              <a:t>[1] Roose, K. (2024). “Can A.I. be blamed for a teen’s suicide? The New York Times”. </a:t>
            </a:r>
            <a:r>
              <a:rPr lang="en-US" sz="4400" b="1" u="sng" kern="10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2"/>
              </a:rPr>
              <a:t>https://www.nytimes.com/2024/10/23/technology/characterai-lawsuit-teen-suicide.html</a:t>
            </a:r>
            <a:r>
              <a:rPr lang="en-US" sz="4400" b="1" kern="100" dirty="0">
                <a:effectLst/>
                <a:latin typeface="Arial" panose="020B0604020202020204" pitchFamily="34" charset="0"/>
                <a:ea typeface="Aptos" panose="020B0004020202020204" pitchFamily="34" charset="0"/>
                <a:cs typeface="Arial" panose="020B0604020202020204" pitchFamily="34" charset="0"/>
              </a:rPr>
              <a:t> </a:t>
            </a:r>
            <a:endParaRPr lang="en-US" sz="4400" b="1"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50000"/>
              </a:lnSpc>
              <a:spcAft>
                <a:spcPts val="800"/>
              </a:spcAft>
              <a:buNone/>
            </a:pPr>
            <a:r>
              <a:rPr lang="en-US" sz="4400" b="1" kern="100" dirty="0">
                <a:effectLst/>
                <a:latin typeface="Arial" panose="020B0604020202020204" pitchFamily="34" charset="0"/>
                <a:ea typeface="Aptos" panose="020B0004020202020204" pitchFamily="34" charset="0"/>
                <a:cs typeface="Arial" panose="020B0604020202020204" pitchFamily="34" charset="0"/>
              </a:rPr>
              <a:t>[2] Bakir, V. &amp; McStay, A (2025). “Move Fast and Break People? Ethics, Companion Apps, and the Case of Character.ai”. Preprint at </a:t>
            </a:r>
            <a:r>
              <a:rPr lang="en-US" sz="4400" b="1" u="sng" kern="10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3" action="ppaction://hlinkfile"/>
              </a:rPr>
              <a:t>5159928.pdf</a:t>
            </a:r>
            <a:endParaRPr lang="en-US" sz="4400" b="1"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50000"/>
              </a:lnSpc>
              <a:spcAft>
                <a:spcPts val="800"/>
              </a:spcAft>
              <a:buNone/>
            </a:pPr>
            <a:r>
              <a:rPr lang="en-US" sz="4400" b="1" kern="100" dirty="0">
                <a:effectLst/>
                <a:latin typeface="Arial" panose="020B0604020202020204" pitchFamily="34" charset="0"/>
                <a:ea typeface="Aptos" panose="020B0004020202020204" pitchFamily="34" charset="0"/>
                <a:cs typeface="Arial" panose="020B0604020202020204" pitchFamily="34" charset="0"/>
              </a:rPr>
              <a:t>[3] JURY TRIAL DEMAND (2024). “Garcia-v-Character-Technologies-Complaint”.</a:t>
            </a:r>
            <a:r>
              <a:rPr lang="en-US" sz="4400" b="1" u="sng" kern="10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4" action="ppaction://hlinkfile"/>
              </a:rPr>
              <a:t> Garcia-v-Character-Technologies-Complaint-10-23-24.pdf</a:t>
            </a:r>
            <a:endParaRPr lang="en-US" sz="4400" b="1"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50000"/>
              </a:lnSpc>
              <a:spcAft>
                <a:spcPts val="800"/>
              </a:spcAft>
              <a:buNone/>
            </a:pPr>
            <a:r>
              <a:rPr lang="en-US" sz="4400" b="1" kern="100" dirty="0">
                <a:effectLst/>
                <a:latin typeface="Arial" panose="020B0604020202020204" pitchFamily="34" charset="0"/>
                <a:ea typeface="Aptos" panose="020B0004020202020204" pitchFamily="34" charset="0"/>
                <a:cs typeface="Arial" panose="020B0604020202020204" pitchFamily="34" charset="0"/>
              </a:rPr>
              <a:t>[4] Pfeffer, B. “When the “Myth of the Sirens” Resurrects as Character -AI (C.A.I.)”. </a:t>
            </a:r>
            <a:r>
              <a:rPr lang="en-US" sz="4400" b="1" u="sng" kern="10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5" action="ppaction://hlinkfile"/>
              </a:rPr>
              <a:t>5107942.pdf</a:t>
            </a:r>
            <a:endParaRPr lang="en-US" sz="4400" b="1"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50000"/>
              </a:lnSpc>
              <a:spcAft>
                <a:spcPts val="800"/>
              </a:spcAft>
              <a:buNone/>
            </a:pPr>
            <a:r>
              <a:rPr lang="en-US" sz="4400" b="1" kern="100" dirty="0">
                <a:effectLst/>
                <a:latin typeface="Arial" panose="020B0604020202020204" pitchFamily="34" charset="0"/>
                <a:ea typeface="Aptos" panose="020B0004020202020204" pitchFamily="34" charset="0"/>
                <a:cs typeface="Arial" panose="020B0604020202020204" pitchFamily="34" charset="0"/>
              </a:rPr>
              <a:t>[5] Washington Post (2024). “Teen's suicide sparks lawsuit against Character.AI and Google”. </a:t>
            </a:r>
            <a:r>
              <a:rPr lang="en-US" sz="4400" b="1" u="sng" kern="10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6"/>
              </a:rPr>
              <a:t>https://www.washingtonpost.com/</a:t>
            </a:r>
            <a:endParaRPr lang="en-US" sz="4400" b="1"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50000"/>
              </a:lnSpc>
              <a:spcAft>
                <a:spcPts val="800"/>
              </a:spcAft>
              <a:buNone/>
            </a:pPr>
            <a:r>
              <a:rPr lang="en-US" sz="4400" b="1" kern="100" dirty="0">
                <a:effectLst/>
                <a:latin typeface="Arial" panose="020B0604020202020204" pitchFamily="34" charset="0"/>
                <a:ea typeface="Aptos" panose="020B0004020202020204" pitchFamily="34" charset="0"/>
                <a:cs typeface="Arial" panose="020B0604020202020204" pitchFamily="34" charset="0"/>
              </a:rPr>
              <a:t>[6] Tech Policy Press.(2024). “Breaking down the lawsuit against Character.AI over teen’s suicide”. </a:t>
            </a:r>
            <a:r>
              <a:rPr lang="en-US" sz="4400" b="1" u="sng" kern="10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7"/>
              </a:rPr>
              <a:t>https://techpolicy.press</a:t>
            </a:r>
            <a:endParaRPr lang="en-US" sz="4400" b="1"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50000"/>
              </a:lnSpc>
              <a:spcAft>
                <a:spcPts val="800"/>
              </a:spcAft>
              <a:buNone/>
            </a:pPr>
            <a:r>
              <a:rPr lang="en-US" sz="4400" b="1" kern="100" dirty="0">
                <a:effectLst/>
                <a:latin typeface="Arial" panose="020B0604020202020204" pitchFamily="34" charset="0"/>
                <a:ea typeface="Aptos" panose="020B0004020202020204" pitchFamily="34" charset="0"/>
                <a:cs typeface="Arial" panose="020B0604020202020204" pitchFamily="34" charset="0"/>
              </a:rPr>
              <a:t>[7] CBS News (2024). “Character.AI adds new safety features after lawsuit over teen suicide”. </a:t>
            </a:r>
            <a:r>
              <a:rPr lang="en-US" sz="4400" b="1" u="sng" kern="10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8"/>
              </a:rPr>
              <a:t>https://www.cbsnews.com</a:t>
            </a:r>
            <a:endParaRPr lang="en-US" sz="4400" b="1"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50000"/>
              </a:lnSpc>
              <a:spcAft>
                <a:spcPts val="800"/>
              </a:spcAft>
              <a:buNone/>
            </a:pPr>
            <a:r>
              <a:rPr lang="en-US" sz="4400" b="1" kern="100" dirty="0">
                <a:effectLst/>
                <a:latin typeface="Arial" panose="020B0604020202020204" pitchFamily="34" charset="0"/>
                <a:ea typeface="Aptos" panose="020B0004020202020204" pitchFamily="34" charset="0"/>
                <a:cs typeface="Arial" panose="020B0604020202020204" pitchFamily="34" charset="0"/>
              </a:rPr>
              <a:t>[8] Social Media Victims Law Center (2024). “Character.AI lawsuits and legal action overview”. </a:t>
            </a:r>
            <a:r>
              <a:rPr lang="en-US" sz="4400" b="1" u="sng" kern="10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9"/>
              </a:rPr>
              <a:t>https://socialmediavictims.org</a:t>
            </a:r>
            <a:endParaRPr lang="en-US" sz="4400" b="1" kern="100" dirty="0">
              <a:effectLst/>
              <a:latin typeface="Aptos" panose="020B0004020202020204" pitchFamily="34" charset="0"/>
              <a:ea typeface="Aptos" panose="020B0004020202020204" pitchFamily="34" charset="0"/>
              <a:cs typeface="Arial" panose="020B0604020202020204" pitchFamily="34" charset="0"/>
            </a:endParaRPr>
          </a:p>
          <a:p>
            <a:pPr marL="0" marR="0" indent="0">
              <a:lnSpc>
                <a:spcPct val="150000"/>
              </a:lnSpc>
              <a:spcAft>
                <a:spcPts val="800"/>
              </a:spcAft>
              <a:buNone/>
            </a:pPr>
            <a:r>
              <a:rPr lang="en-US" sz="4400" b="1" kern="100" dirty="0">
                <a:effectLst/>
                <a:latin typeface="Arial" panose="020B0604020202020204" pitchFamily="34" charset="0"/>
                <a:ea typeface="Aptos" panose="020B0004020202020204" pitchFamily="34" charset="0"/>
                <a:cs typeface="Arial" panose="020B0604020202020204" pitchFamily="34" charset="0"/>
              </a:rPr>
              <a:t>[9] The New York times (2024) . “</a:t>
            </a:r>
            <a:r>
              <a:rPr lang="en-US" sz="4400" b="1" i="1" kern="100" dirty="0">
                <a:effectLst/>
                <a:latin typeface="Arial" panose="020B0604020202020204" pitchFamily="34" charset="0"/>
                <a:ea typeface="Aptos" panose="020B0004020202020204" pitchFamily="34" charset="0"/>
                <a:cs typeface="Arial" panose="020B0604020202020204" pitchFamily="34" charset="0"/>
              </a:rPr>
              <a:t>Can A.I. Be Blamed for a Teen’s Suicide?</a:t>
            </a:r>
            <a:r>
              <a:rPr lang="en-US" sz="4400" b="1" kern="100" dirty="0">
                <a:effectLst/>
                <a:latin typeface="Arial" panose="020B0604020202020204" pitchFamily="34" charset="0"/>
                <a:ea typeface="Aptos" panose="020B0004020202020204" pitchFamily="34" charset="0"/>
                <a:cs typeface="Arial" panose="020B0604020202020204" pitchFamily="34" charset="0"/>
              </a:rPr>
              <a:t>”.</a:t>
            </a:r>
            <a:r>
              <a:rPr lang="en-US" sz="4400" b="1" kern="100" dirty="0">
                <a:effectLst/>
                <a:latin typeface="Aptos" panose="020B0004020202020204" pitchFamily="34" charset="0"/>
                <a:ea typeface="Aptos" panose="020B0004020202020204" pitchFamily="34" charset="0"/>
                <a:cs typeface="Arial" panose="020B0604020202020204" pitchFamily="34" charset="0"/>
              </a:rPr>
              <a:t> </a:t>
            </a:r>
            <a:r>
              <a:rPr lang="en-US" sz="4400" b="1" u="sng" kern="10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2"/>
              </a:rPr>
              <a:t>https://www.nytimes.com/2024/10/23/technology/characterai-lawsuit-teen-suicide.html</a:t>
            </a:r>
            <a:endParaRPr lang="en-US" sz="4400" b="1" kern="100" dirty="0">
              <a:effectLst/>
              <a:latin typeface="Aptos" panose="020B0004020202020204" pitchFamily="34" charset="0"/>
              <a:ea typeface="Aptos" panose="020B00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467324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F7E42047-F7E7-4687-BBE0-D4BDC8E77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8" name="Group 37">
            <a:extLst>
              <a:ext uri="{FF2B5EF4-FFF2-40B4-BE49-F238E27FC236}">
                <a16:creationId xmlns:a16="http://schemas.microsoft.com/office/drawing/2014/main" id="{8D6F839A-C8D9-4FBC-8EFD-9E56D12F4C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06785" y="228600"/>
            <a:ext cx="2851523" cy="6638625"/>
            <a:chOff x="2487613" y="285750"/>
            <a:chExt cx="2428875" cy="5654676"/>
          </a:xfrm>
        </p:grpSpPr>
        <p:sp>
          <p:nvSpPr>
            <p:cNvPr id="39" name="Freeform 11">
              <a:extLst>
                <a:ext uri="{FF2B5EF4-FFF2-40B4-BE49-F238E27FC236}">
                  <a16:creationId xmlns:a16="http://schemas.microsoft.com/office/drawing/2014/main" id="{D1F0D09B-BA85-41B1-A8DE-73728B72E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40" name="Freeform 12">
              <a:extLst>
                <a:ext uri="{FF2B5EF4-FFF2-40B4-BE49-F238E27FC236}">
                  <a16:creationId xmlns:a16="http://schemas.microsoft.com/office/drawing/2014/main" id="{FB2D0F0C-3A27-4FC3-A6A3-D2095D9B2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41" name="Freeform 13">
              <a:extLst>
                <a:ext uri="{FF2B5EF4-FFF2-40B4-BE49-F238E27FC236}">
                  <a16:creationId xmlns:a16="http://schemas.microsoft.com/office/drawing/2014/main" id="{FA1C69EF-E6E6-4BDD-B62F-637FC9F3C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42" name="Freeform 14">
              <a:extLst>
                <a:ext uri="{FF2B5EF4-FFF2-40B4-BE49-F238E27FC236}">
                  <a16:creationId xmlns:a16="http://schemas.microsoft.com/office/drawing/2014/main" id="{75B4F36E-07F6-4E6F-A9D9-A7F6D9585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43" name="Freeform 15">
              <a:extLst>
                <a:ext uri="{FF2B5EF4-FFF2-40B4-BE49-F238E27FC236}">
                  <a16:creationId xmlns:a16="http://schemas.microsoft.com/office/drawing/2014/main" id="{7D9136C7-12F1-4F21-A438-ED7668DDF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44" name="Freeform 16">
              <a:extLst>
                <a:ext uri="{FF2B5EF4-FFF2-40B4-BE49-F238E27FC236}">
                  <a16:creationId xmlns:a16="http://schemas.microsoft.com/office/drawing/2014/main" id="{C718EF12-B769-45D9-9B6E-7AEAA310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45" name="Freeform 17">
              <a:extLst>
                <a:ext uri="{FF2B5EF4-FFF2-40B4-BE49-F238E27FC236}">
                  <a16:creationId xmlns:a16="http://schemas.microsoft.com/office/drawing/2014/main" id="{534EAD53-3968-459E-B27C-09126A0FE3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46" name="Freeform 18">
              <a:extLst>
                <a:ext uri="{FF2B5EF4-FFF2-40B4-BE49-F238E27FC236}">
                  <a16:creationId xmlns:a16="http://schemas.microsoft.com/office/drawing/2014/main" id="{67658BFE-59E2-4A2D-9E8A-18F81C35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47" name="Freeform 19">
              <a:extLst>
                <a:ext uri="{FF2B5EF4-FFF2-40B4-BE49-F238E27FC236}">
                  <a16:creationId xmlns:a16="http://schemas.microsoft.com/office/drawing/2014/main" id="{3FEC8A9E-385D-4407-9671-E30238022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48" name="Freeform 20">
              <a:extLst>
                <a:ext uri="{FF2B5EF4-FFF2-40B4-BE49-F238E27FC236}">
                  <a16:creationId xmlns:a16="http://schemas.microsoft.com/office/drawing/2014/main" id="{EFC82234-632C-4B76-A8FF-2C9C0DCA6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49" name="Freeform 21">
              <a:extLst>
                <a:ext uri="{FF2B5EF4-FFF2-40B4-BE49-F238E27FC236}">
                  <a16:creationId xmlns:a16="http://schemas.microsoft.com/office/drawing/2014/main" id="{662A4DB3-C195-4230-953D-307E4100F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50" name="Freeform 22">
              <a:extLst>
                <a:ext uri="{FF2B5EF4-FFF2-40B4-BE49-F238E27FC236}">
                  <a16:creationId xmlns:a16="http://schemas.microsoft.com/office/drawing/2014/main" id="{94D310CF-9541-4CD7-855B-E2E1EF343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52" name="Group 51">
            <a:extLst>
              <a:ext uri="{FF2B5EF4-FFF2-40B4-BE49-F238E27FC236}">
                <a16:creationId xmlns:a16="http://schemas.microsoft.com/office/drawing/2014/main" id="{70EDA856-A216-4EEC-9AB6-A59FFC703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7733" y="-786"/>
            <a:ext cx="2356675" cy="6854040"/>
            <a:chOff x="6627813" y="194833"/>
            <a:chExt cx="1952625" cy="5678918"/>
          </a:xfrm>
        </p:grpSpPr>
        <p:sp>
          <p:nvSpPr>
            <p:cNvPr id="53" name="Freeform 27">
              <a:extLst>
                <a:ext uri="{FF2B5EF4-FFF2-40B4-BE49-F238E27FC236}">
                  <a16:creationId xmlns:a16="http://schemas.microsoft.com/office/drawing/2014/main" id="{36F815B8-AFA8-45E9-A3D1-977F2D192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54" name="Freeform 28">
              <a:extLst>
                <a:ext uri="{FF2B5EF4-FFF2-40B4-BE49-F238E27FC236}">
                  <a16:creationId xmlns:a16="http://schemas.microsoft.com/office/drawing/2014/main" id="{5D8FF653-8B3F-4B96-904D-1A4482EAE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55" name="Freeform 29">
              <a:extLst>
                <a:ext uri="{FF2B5EF4-FFF2-40B4-BE49-F238E27FC236}">
                  <a16:creationId xmlns:a16="http://schemas.microsoft.com/office/drawing/2014/main" id="{4DD2E775-AB45-4AF1-B5B7-54948CFB9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56" name="Freeform 30">
              <a:extLst>
                <a:ext uri="{FF2B5EF4-FFF2-40B4-BE49-F238E27FC236}">
                  <a16:creationId xmlns:a16="http://schemas.microsoft.com/office/drawing/2014/main" id="{7BDE7E7B-E3AA-4A24-8F9D-CE77C96CA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57" name="Freeform 31">
              <a:extLst>
                <a:ext uri="{FF2B5EF4-FFF2-40B4-BE49-F238E27FC236}">
                  <a16:creationId xmlns:a16="http://schemas.microsoft.com/office/drawing/2014/main" id="{D129CAA9-35E5-48CE-88AE-9806695CB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58" name="Freeform 32">
              <a:extLst>
                <a:ext uri="{FF2B5EF4-FFF2-40B4-BE49-F238E27FC236}">
                  <a16:creationId xmlns:a16="http://schemas.microsoft.com/office/drawing/2014/main" id="{A73989FF-4EFF-4181-81A4-72EF2E67D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59" name="Freeform 33">
              <a:extLst>
                <a:ext uri="{FF2B5EF4-FFF2-40B4-BE49-F238E27FC236}">
                  <a16:creationId xmlns:a16="http://schemas.microsoft.com/office/drawing/2014/main" id="{8C2C17BD-8FA0-4F42-B2CD-5E5A9F542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60" name="Freeform 34">
              <a:extLst>
                <a:ext uri="{FF2B5EF4-FFF2-40B4-BE49-F238E27FC236}">
                  <a16:creationId xmlns:a16="http://schemas.microsoft.com/office/drawing/2014/main" id="{EEE99CF3-AD71-46FB-8E7D-67825F781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61" name="Freeform 35">
              <a:extLst>
                <a:ext uri="{FF2B5EF4-FFF2-40B4-BE49-F238E27FC236}">
                  <a16:creationId xmlns:a16="http://schemas.microsoft.com/office/drawing/2014/main" id="{D0F9D5ED-7591-4E88-9FDA-4C1DC47E9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62" name="Freeform 36">
              <a:extLst>
                <a:ext uri="{FF2B5EF4-FFF2-40B4-BE49-F238E27FC236}">
                  <a16:creationId xmlns:a16="http://schemas.microsoft.com/office/drawing/2014/main" id="{88FA7C13-D80D-4514-B9DB-87AE076AC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63" name="Freeform 37">
              <a:extLst>
                <a:ext uri="{FF2B5EF4-FFF2-40B4-BE49-F238E27FC236}">
                  <a16:creationId xmlns:a16="http://schemas.microsoft.com/office/drawing/2014/main" id="{202C78DF-D842-450B-A87D-E035719E4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64" name="Freeform 38">
              <a:extLst>
                <a:ext uri="{FF2B5EF4-FFF2-40B4-BE49-F238E27FC236}">
                  <a16:creationId xmlns:a16="http://schemas.microsoft.com/office/drawing/2014/main" id="{A4789F83-2423-47F8-8958-48E477BAE0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2" name="Title 1">
            <a:extLst>
              <a:ext uri="{FF2B5EF4-FFF2-40B4-BE49-F238E27FC236}">
                <a16:creationId xmlns:a16="http://schemas.microsoft.com/office/drawing/2014/main" id="{90C623C3-2753-8A13-6993-3E72387E7ADA}"/>
              </a:ext>
            </a:extLst>
          </p:cNvPr>
          <p:cNvSpPr>
            <a:spLocks noGrp="1"/>
          </p:cNvSpPr>
          <p:nvPr>
            <p:ph type="title"/>
          </p:nvPr>
        </p:nvSpPr>
        <p:spPr>
          <a:xfrm>
            <a:off x="5788159" y="3423042"/>
            <a:ext cx="3986069" cy="1280890"/>
          </a:xfrm>
        </p:spPr>
        <p:txBody>
          <a:bodyPr>
            <a:noAutofit/>
          </a:bodyPr>
          <a:lstStyle/>
          <a:p>
            <a:r>
              <a:rPr lang="en-US" sz="5400" b="1" dirty="0"/>
              <a:t>Questions?</a:t>
            </a:r>
          </a:p>
        </p:txBody>
      </p:sp>
      <p:sp>
        <p:nvSpPr>
          <p:cNvPr id="66" name="Rectangle 65">
            <a:extLst>
              <a:ext uri="{FF2B5EF4-FFF2-40B4-BE49-F238E27FC236}">
                <a16:creationId xmlns:a16="http://schemas.microsoft.com/office/drawing/2014/main" id="{2C509E7A-337A-4664-BEC2-03F9BCA0A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1632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8" name="Freeform 11">
            <a:extLst>
              <a:ext uri="{FF2B5EF4-FFF2-40B4-BE49-F238E27FC236}">
                <a16:creationId xmlns:a16="http://schemas.microsoft.com/office/drawing/2014/main" id="{D9AB99AB-E300-4B19-97C3-9A12EA3C7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2716320"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pic>
        <p:nvPicPr>
          <p:cNvPr id="32" name="Picture 31" descr="3D black question marks with one yellow question mark">
            <a:extLst>
              <a:ext uri="{FF2B5EF4-FFF2-40B4-BE49-F238E27FC236}">
                <a16:creationId xmlns:a16="http://schemas.microsoft.com/office/drawing/2014/main" id="{88FBF413-89E4-8A5A-7228-91CA836042A9}"/>
              </a:ext>
            </a:extLst>
          </p:cNvPr>
          <p:cNvPicPr>
            <a:picLocks noChangeAspect="1"/>
          </p:cNvPicPr>
          <p:nvPr/>
        </p:nvPicPr>
        <p:blipFill>
          <a:blip r:embed="rId2"/>
          <a:srcRect l="54194" r="31327" b="1"/>
          <a:stretch/>
        </p:blipFill>
        <p:spPr>
          <a:xfrm>
            <a:off x="20" y="1730"/>
            <a:ext cx="2720524" cy="6858000"/>
          </a:xfrm>
          <a:prstGeom prst="rect">
            <a:avLst/>
          </a:prstGeom>
        </p:spPr>
      </p:pic>
    </p:spTree>
    <p:extLst>
      <p:ext uri="{BB962C8B-B14F-4D97-AF65-F5344CB8AC3E}">
        <p14:creationId xmlns:p14="http://schemas.microsoft.com/office/powerpoint/2010/main" val="99732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6" name="Group 125">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7"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28"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29"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30"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31"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32"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33"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34"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35"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36"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37"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138"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39" name="Group 138">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140"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41"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42"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3"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44"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45"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46"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47"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48"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149"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150"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151"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152" name="Rectangle 151">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3" name="Freeform 6">
            <a:extLst>
              <a:ext uri="{FF2B5EF4-FFF2-40B4-BE49-F238E27FC236}">
                <a16:creationId xmlns:a16="http://schemas.microsoft.com/office/drawing/2014/main" id="{7BD08880-457D-4C62-A3B5-6A9B0878C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154" name="Rectangle 153">
            <a:extLst>
              <a:ext uri="{FF2B5EF4-FFF2-40B4-BE49-F238E27FC236}">
                <a16:creationId xmlns:a16="http://schemas.microsoft.com/office/drawing/2014/main" id="{1FF9CEF5-A50D-4B8B-9852-D76F70378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2" name="Picture 71" descr="Aerial view of a highway near the ocean">
            <a:extLst>
              <a:ext uri="{FF2B5EF4-FFF2-40B4-BE49-F238E27FC236}">
                <a16:creationId xmlns:a16="http://schemas.microsoft.com/office/drawing/2014/main" id="{3A21F0B4-A1BF-B9D9-E99A-33358777BDDA}"/>
              </a:ext>
            </a:extLst>
          </p:cNvPr>
          <p:cNvPicPr>
            <a:picLocks noChangeAspect="1"/>
          </p:cNvPicPr>
          <p:nvPr/>
        </p:nvPicPr>
        <p:blipFill>
          <a:blip r:embed="rId2">
            <a:alphaModFix amt="40000"/>
          </a:blip>
          <a:srcRect t="5858" b="19142"/>
          <a:stretch/>
        </p:blipFill>
        <p:spPr>
          <a:xfrm>
            <a:off x="20" y="10"/>
            <a:ext cx="12191980" cy="6857990"/>
          </a:xfrm>
          <a:prstGeom prst="rect">
            <a:avLst/>
          </a:prstGeom>
        </p:spPr>
      </p:pic>
      <p:sp>
        <p:nvSpPr>
          <p:cNvPr id="2" name="Title 1">
            <a:extLst>
              <a:ext uri="{FF2B5EF4-FFF2-40B4-BE49-F238E27FC236}">
                <a16:creationId xmlns:a16="http://schemas.microsoft.com/office/drawing/2014/main" id="{AB7022C5-ADD0-F668-0D0D-C49D40029F0B}"/>
              </a:ext>
            </a:extLst>
          </p:cNvPr>
          <p:cNvSpPr>
            <a:spLocks noGrp="1"/>
          </p:cNvSpPr>
          <p:nvPr>
            <p:ph type="title"/>
          </p:nvPr>
        </p:nvSpPr>
        <p:spPr>
          <a:xfrm>
            <a:off x="2589213" y="2514600"/>
            <a:ext cx="8915399" cy="2262781"/>
          </a:xfrm>
        </p:spPr>
        <p:txBody>
          <a:bodyPr vert="horz" lIns="91440" tIns="45720" rIns="91440" bIns="45720" rtlCol="0" anchor="b">
            <a:normAutofit/>
          </a:bodyPr>
          <a:lstStyle/>
          <a:p>
            <a:r>
              <a:rPr lang="en-US" sz="5400" b="1" dirty="0">
                <a:solidFill>
                  <a:schemeClr val="tx1">
                    <a:lumMod val="95000"/>
                  </a:schemeClr>
                </a:solidFill>
              </a:rPr>
              <a:t>Thank You</a:t>
            </a:r>
          </a:p>
        </p:txBody>
      </p:sp>
      <p:sp>
        <p:nvSpPr>
          <p:cNvPr id="155" name="Rectangle 154">
            <a:extLst>
              <a:ext uri="{FF2B5EF4-FFF2-40B4-BE49-F238E27FC236}">
                <a16:creationId xmlns:a16="http://schemas.microsoft.com/office/drawing/2014/main" id="{30684D86-C9D1-40C3-A9B6-EC935C731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6" name="Freeform 33">
            <a:extLst>
              <a:ext uri="{FF2B5EF4-FFF2-40B4-BE49-F238E27FC236}">
                <a16:creationId xmlns:a16="http://schemas.microsoft.com/office/drawing/2014/main" id="{1EDF7896-F56A-49DA-90F3-F5CE8B983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Tree>
    <p:extLst>
      <p:ext uri="{BB962C8B-B14F-4D97-AF65-F5344CB8AC3E}">
        <p14:creationId xmlns:p14="http://schemas.microsoft.com/office/powerpoint/2010/main" val="143026541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TM03090434[[fn=Wood Type]]</Template>
  <TotalTime>143</TotalTime>
  <Words>990</Words>
  <Application>Microsoft Office PowerPoint</Application>
  <PresentationFormat>Widescreen</PresentationFormat>
  <Paragraphs>99</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Aharoni</vt:lpstr>
      <vt:lpstr>Aptos</vt:lpstr>
      <vt:lpstr>Arial</vt:lpstr>
      <vt:lpstr>Calibri</vt:lpstr>
      <vt:lpstr>Century Gothic</vt:lpstr>
      <vt:lpstr>Wingdings</vt:lpstr>
      <vt:lpstr>Wingdings 3</vt:lpstr>
      <vt:lpstr>Wisp</vt:lpstr>
      <vt:lpstr>Character.AI Wrongful Death Lawsuit (2024)</vt:lpstr>
      <vt:lpstr>Outline</vt:lpstr>
      <vt:lpstr>Introduction </vt:lpstr>
      <vt:lpstr>BACKGROUND </vt:lpstr>
      <vt:lpstr>ANALYSIS OF THE CASE </vt:lpstr>
      <vt:lpstr>DISCUSSION </vt:lpstr>
      <vt:lpstr>PowerPoint Presentation</vt:lpstr>
      <vt:lpstr>CONCLUSION </vt:lpstr>
      <vt:lpstr>References</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mnero netro</dc:creator>
  <cp:lastModifiedBy>mnero netro</cp:lastModifiedBy>
  <cp:revision>6</cp:revision>
  <dcterms:created xsi:type="dcterms:W3CDTF">2025-04-18T16:57:11Z</dcterms:created>
  <dcterms:modified xsi:type="dcterms:W3CDTF">2025-04-23T11:31:01Z</dcterms:modified>
</cp:coreProperties>
</file>